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82" r:id="rId1"/>
  </p:sldMasterIdLst>
  <p:notesMasterIdLst>
    <p:notesMasterId r:id="rId19"/>
  </p:notesMasterIdLst>
  <p:sldIdLst>
    <p:sldId id="268" r:id="rId2"/>
    <p:sldId id="270" r:id="rId3"/>
    <p:sldId id="269" r:id="rId4"/>
    <p:sldId id="273" r:id="rId5"/>
    <p:sldId id="274" r:id="rId6"/>
    <p:sldId id="275" r:id="rId7"/>
    <p:sldId id="262" r:id="rId8"/>
    <p:sldId id="263" r:id="rId9"/>
    <p:sldId id="271" r:id="rId10"/>
    <p:sldId id="264" r:id="rId11"/>
    <p:sldId id="265" r:id="rId12"/>
    <p:sldId id="266" r:id="rId13"/>
    <p:sldId id="257" r:id="rId14"/>
    <p:sldId id="258" r:id="rId15"/>
    <p:sldId id="259" r:id="rId16"/>
    <p:sldId id="276" r:id="rId17"/>
    <p:sldId id="26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20" autoAdjust="0"/>
  </p:normalViewPr>
  <p:slideViewPr>
    <p:cSldViewPr snapToGrid="0">
      <p:cViewPr varScale="1">
        <p:scale>
          <a:sx n="108" d="100"/>
          <a:sy n="108" d="100"/>
        </p:scale>
        <p:origin x="678" y="10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739823-A953-4ECB-AE13-8F8CB5718B60}" type="datetimeFigureOut">
              <a:rPr lang="en-IN" smtClean="0"/>
              <a:t>09-12-2025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A9A28B-A1A6-40AF-B844-E4E748D85F12}" type="slidenum">
              <a:rPr lang="en-IN" smtClean="0"/>
              <a:t>‹#›</a:t>
            </a:fld>
            <a:endParaRPr lang="en-IN"/>
          </a:p>
        </p:txBody>
      </p:sp>
    </p:spTree>
    <p:extLst>
      <p:ext uri="{BB962C8B-B14F-4D97-AF65-F5344CB8AC3E}">
        <p14:creationId xmlns:p14="http://schemas.microsoft.com/office/powerpoint/2010/main" val="3302336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3A9A28B-A1A6-40AF-B844-E4E748D85F12}" type="slidenum">
              <a:rPr lang="en-IN" smtClean="0"/>
              <a:t>16</a:t>
            </a:fld>
            <a:endParaRPr lang="en-IN"/>
          </a:p>
        </p:txBody>
      </p:sp>
    </p:spTree>
    <p:extLst>
      <p:ext uri="{BB962C8B-B14F-4D97-AF65-F5344CB8AC3E}">
        <p14:creationId xmlns:p14="http://schemas.microsoft.com/office/powerpoint/2010/main" val="1295072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29972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2918159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3229050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74AC4B-7AD3-4E8C-BCAC-FFA5CC8F5EFB}"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2483668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74AC4B-7AD3-4E8C-BCAC-FFA5CC8F5EFB}" type="datetimeFigureOut">
              <a:rPr lang="en-IN" smtClean="0"/>
              <a:t>09-12-2025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3949556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74AC4B-7AD3-4E8C-BCAC-FFA5CC8F5EFB}" type="datetimeFigureOut">
              <a:rPr lang="en-IN" smtClean="0"/>
              <a:t>09-12-2025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899818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74AC4B-7AD3-4E8C-BCAC-FFA5CC8F5EFB}" type="datetimeFigureOut">
              <a:rPr lang="en-IN" smtClean="0"/>
              <a:t>09-12-2025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278034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74AC4B-7AD3-4E8C-BCAC-FFA5CC8F5EFB}"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1540916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74AC4B-7AD3-4E8C-BCAC-FFA5CC8F5EFB}"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647833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3703521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85891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24469319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231623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585754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12000278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2828383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C74AC4B-7AD3-4E8C-BCAC-FFA5CC8F5EFB}" type="datetimeFigureOut">
              <a:rPr lang="en-IN" smtClean="0"/>
              <a:t>09-12-2025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3EF1035-A403-4A7E-8AB6-EBDF18C6DAA8}" type="slidenum">
              <a:rPr lang="en-IN" smtClean="0"/>
              <a:t>‹#›</a:t>
            </a:fld>
            <a:endParaRPr lang="en-IN"/>
          </a:p>
        </p:txBody>
      </p:sp>
    </p:spTree>
    <p:extLst>
      <p:ext uri="{BB962C8B-B14F-4D97-AF65-F5344CB8AC3E}">
        <p14:creationId xmlns:p14="http://schemas.microsoft.com/office/powerpoint/2010/main" val="475898217"/>
      </p:ext>
    </p:extLst>
  </p:cSld>
  <p:clrMap bg1="dk1" tx1="lt1" bg2="dk2" tx2="lt2" accent1="accent1" accent2="accent2" accent3="accent3" accent4="accent4" accent5="accent5" accent6="accent6" hlink="hlink" folHlink="folHlink"/>
  <p:sldLayoutIdLst>
    <p:sldLayoutId id="2147484283" r:id="rId1"/>
    <p:sldLayoutId id="2147484284" r:id="rId2"/>
    <p:sldLayoutId id="2147484285" r:id="rId3"/>
    <p:sldLayoutId id="2147484286" r:id="rId4"/>
    <p:sldLayoutId id="2147484287" r:id="rId5"/>
    <p:sldLayoutId id="2147484288" r:id="rId6"/>
    <p:sldLayoutId id="2147484289" r:id="rId7"/>
    <p:sldLayoutId id="2147484290" r:id="rId8"/>
    <p:sldLayoutId id="2147484291" r:id="rId9"/>
    <p:sldLayoutId id="2147484292" r:id="rId10"/>
    <p:sldLayoutId id="2147484293" r:id="rId11"/>
    <p:sldLayoutId id="2147484294" r:id="rId12"/>
    <p:sldLayoutId id="2147484295" r:id="rId13"/>
    <p:sldLayoutId id="2147484296" r:id="rId14"/>
    <p:sldLayoutId id="2147484297" r:id="rId15"/>
    <p:sldLayoutId id="214748429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32148-9B3B-44F7-94D9-E5D7CA114760}"/>
              </a:ext>
            </a:extLst>
          </p:cNvPr>
          <p:cNvSpPr>
            <a:spLocks noGrp="1"/>
          </p:cNvSpPr>
          <p:nvPr>
            <p:ph type="title"/>
          </p:nvPr>
        </p:nvSpPr>
        <p:spPr/>
        <p:txBody>
          <a:bodyPr/>
          <a:lstStyle/>
          <a:p>
            <a:r>
              <a:rPr lang="en-IN" sz="5400" dirty="0">
                <a:latin typeface="Arial Rounded MT Bold" panose="020F0704030504030204" pitchFamily="34" charset="0"/>
              </a:rPr>
              <a:t>  KIRCHHOFF’S LAW</a:t>
            </a:r>
          </a:p>
        </p:txBody>
      </p:sp>
      <p:sp>
        <p:nvSpPr>
          <p:cNvPr id="3" name="Text Placeholder 2">
            <a:extLst>
              <a:ext uri="{FF2B5EF4-FFF2-40B4-BE49-F238E27FC236}">
                <a16:creationId xmlns:a16="http://schemas.microsoft.com/office/drawing/2014/main" id="{E7CDEFAF-8E78-418B-8F45-FA6C23AD84A7}"/>
              </a:ext>
            </a:extLst>
          </p:cNvPr>
          <p:cNvSpPr>
            <a:spLocks noGrp="1"/>
          </p:cNvSpPr>
          <p:nvPr>
            <p:ph type="body" sz="quarter" idx="13"/>
          </p:nvPr>
        </p:nvSpPr>
        <p:spPr/>
        <p:txBody>
          <a:bodyPr/>
          <a:lstStyle/>
          <a:p>
            <a:r>
              <a:rPr lang="en-IN" dirty="0">
                <a:latin typeface="Arial Rounded MT Bold" panose="020F0704030504030204" pitchFamily="34" charset="0"/>
              </a:rPr>
              <a:t>LAWS COVERED:</a:t>
            </a:r>
          </a:p>
        </p:txBody>
      </p:sp>
      <p:sp>
        <p:nvSpPr>
          <p:cNvPr id="4" name="Text Placeholder 3">
            <a:extLst>
              <a:ext uri="{FF2B5EF4-FFF2-40B4-BE49-F238E27FC236}">
                <a16:creationId xmlns:a16="http://schemas.microsoft.com/office/drawing/2014/main" id="{1624E30E-DBE1-44D7-A597-90E0B1F2D738}"/>
              </a:ext>
            </a:extLst>
          </p:cNvPr>
          <p:cNvSpPr>
            <a:spLocks noGrp="1"/>
          </p:cNvSpPr>
          <p:nvPr>
            <p:ph type="body" idx="1"/>
          </p:nvPr>
        </p:nvSpPr>
        <p:spPr/>
        <p:txBody>
          <a:bodyPr/>
          <a:lstStyle/>
          <a:p>
            <a:r>
              <a:rPr lang="en-IN" dirty="0"/>
              <a:t>Kirchhoff’s Current Law</a:t>
            </a:r>
          </a:p>
          <a:p>
            <a:r>
              <a:rPr lang="en-IN" dirty="0"/>
              <a:t>Kirchhoff’s voltage Law</a:t>
            </a:r>
          </a:p>
          <a:p>
            <a:endParaRPr lang="en-IN" dirty="0"/>
          </a:p>
        </p:txBody>
      </p:sp>
      <p:sp>
        <p:nvSpPr>
          <p:cNvPr id="5" name="Rectangle 4">
            <a:extLst>
              <a:ext uri="{FF2B5EF4-FFF2-40B4-BE49-F238E27FC236}">
                <a16:creationId xmlns:a16="http://schemas.microsoft.com/office/drawing/2014/main" id="{986EB496-0A18-4332-8338-FCC183A06889}"/>
              </a:ext>
            </a:extLst>
          </p:cNvPr>
          <p:cNvSpPr/>
          <p:nvPr/>
        </p:nvSpPr>
        <p:spPr>
          <a:xfrm>
            <a:off x="4412202" y="4270324"/>
            <a:ext cx="6516210" cy="959173"/>
          </a:xfrm>
          <a:prstGeom prst="rect">
            <a:avLst/>
          </a:prstGeom>
        </p:spPr>
        <p:txBody>
          <a:bodyPr wrap="square">
            <a:spAutoFit/>
          </a:bodyPr>
          <a:lstStyle/>
          <a:p>
            <a:pPr>
              <a:lnSpc>
                <a:spcPct val="150000"/>
              </a:lnSpc>
            </a:pPr>
            <a:r>
              <a:rPr lang="en-IN" sz="2000" dirty="0">
                <a:solidFill>
                  <a:schemeClr val="accent1"/>
                </a:solidFill>
              </a:rPr>
              <a:t>Name     : </a:t>
            </a:r>
            <a:r>
              <a:rPr lang="en-IN" sz="2000" dirty="0" err="1">
                <a:solidFill>
                  <a:schemeClr val="accent1"/>
                </a:solidFill>
              </a:rPr>
              <a:t>U.Gowtham</a:t>
            </a:r>
            <a:r>
              <a:rPr lang="en-IN" sz="2000" dirty="0">
                <a:solidFill>
                  <a:schemeClr val="accent1"/>
                </a:solidFill>
              </a:rPr>
              <a:t> Venkat Ram Santhosh</a:t>
            </a:r>
          </a:p>
          <a:p>
            <a:pPr>
              <a:lnSpc>
                <a:spcPct val="150000"/>
              </a:lnSpc>
            </a:pPr>
            <a:r>
              <a:rPr lang="en-IN" sz="2000" dirty="0">
                <a:solidFill>
                  <a:schemeClr val="accent1"/>
                </a:solidFill>
              </a:rPr>
              <a:t>Roll No   : 25A31A0151</a:t>
            </a:r>
          </a:p>
        </p:txBody>
      </p:sp>
    </p:spTree>
    <p:extLst>
      <p:ext uri="{BB962C8B-B14F-4D97-AF65-F5344CB8AC3E}">
        <p14:creationId xmlns:p14="http://schemas.microsoft.com/office/powerpoint/2010/main" val="343185124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326DE-FFAF-4C7A-875F-CB8CD3098027}"/>
              </a:ext>
            </a:extLst>
          </p:cNvPr>
          <p:cNvSpPr>
            <a:spLocks noGrp="1"/>
          </p:cNvSpPr>
          <p:nvPr>
            <p:ph type="title"/>
          </p:nvPr>
        </p:nvSpPr>
        <p:spPr>
          <a:xfrm>
            <a:off x="792745" y="440925"/>
            <a:ext cx="8596668" cy="6252838"/>
          </a:xfrm>
          <a:ln>
            <a:solidFill>
              <a:schemeClr val="bg2"/>
            </a:solidFill>
          </a:ln>
        </p:spPr>
        <p:txBody>
          <a:bodyPr anchor="ctr">
            <a:normAutofit/>
          </a:bodyPr>
          <a:lstStyle/>
          <a:p>
            <a:pPr>
              <a:lnSpc>
                <a:spcPct val="150000"/>
              </a:lnSpc>
            </a:pPr>
            <a:r>
              <a:rPr lang="en-IN" sz="4000" b="1" dirty="0"/>
              <a:t>REQUIREMENTS</a:t>
            </a:r>
            <a:br>
              <a:rPr lang="en-IN" b="1" dirty="0">
                <a:solidFill>
                  <a:schemeClr val="tx1"/>
                </a:solidFill>
              </a:rPr>
            </a:br>
            <a:r>
              <a:rPr lang="en-IN" sz="2800" b="1" dirty="0">
                <a:solidFill>
                  <a:schemeClr val="tx1"/>
                </a:solidFill>
              </a:rPr>
              <a:t>1. Hardware Requirements</a:t>
            </a:r>
            <a:br>
              <a:rPr lang="en-IN" b="1" dirty="0">
                <a:solidFill>
                  <a:schemeClr val="tx1"/>
                </a:solidFill>
              </a:rPr>
            </a:br>
            <a:r>
              <a:rPr lang="en-IN" sz="1800" b="1" dirty="0">
                <a:solidFill>
                  <a:schemeClr val="tx1"/>
                </a:solidFill>
              </a:rPr>
              <a:t>           </a:t>
            </a:r>
            <a:r>
              <a:rPr lang="en-IN" sz="1800" b="1" dirty="0">
                <a:solidFill>
                  <a:schemeClr val="tx1"/>
                </a:solidFill>
                <a:cs typeface="Calibri Light" panose="020F0302020204030204" pitchFamily="34" charset="0"/>
              </a:rPr>
              <a:t>Computer / Laptop</a:t>
            </a:r>
            <a:br>
              <a:rPr lang="en-IN" sz="1800" b="1" dirty="0">
                <a:solidFill>
                  <a:schemeClr val="tx1"/>
                </a:solidFill>
                <a:cs typeface="Calibri Light" panose="020F0302020204030204" pitchFamily="34" charset="0"/>
              </a:rPr>
            </a:br>
            <a:r>
              <a:rPr lang="en-IN" sz="1800" b="1" dirty="0">
                <a:solidFill>
                  <a:schemeClr val="tx1"/>
                </a:solidFill>
                <a:cs typeface="Calibri Light" panose="020F0302020204030204" pitchFamily="34" charset="0"/>
              </a:rPr>
              <a:t>           Keyboard and Mouse</a:t>
            </a:r>
            <a:br>
              <a:rPr lang="en-IN" sz="1800" b="1" dirty="0">
                <a:solidFill>
                  <a:schemeClr val="tx1"/>
                </a:solidFill>
                <a:cs typeface="Calibri Light" panose="020F0302020204030204" pitchFamily="34" charset="0"/>
              </a:rPr>
            </a:br>
            <a:r>
              <a:rPr lang="en-IN" sz="1800" b="1" dirty="0">
                <a:solidFill>
                  <a:schemeClr val="tx1"/>
                </a:solidFill>
                <a:cs typeface="Calibri Light" panose="020F0302020204030204" pitchFamily="34" charset="0"/>
              </a:rPr>
              <a:t>           Minimum 4 GB RAM</a:t>
            </a:r>
            <a:br>
              <a:rPr lang="en-IN" sz="2000" dirty="0">
                <a:solidFill>
                  <a:schemeClr val="tx1"/>
                </a:solidFill>
                <a:cs typeface="Calibri Light" panose="020F0302020204030204" pitchFamily="34" charset="0"/>
              </a:rPr>
            </a:br>
            <a:r>
              <a:rPr lang="en-IN" sz="2800" b="1" dirty="0">
                <a:solidFill>
                  <a:schemeClr val="tx1"/>
                </a:solidFill>
              </a:rPr>
              <a:t>2. Software </a:t>
            </a:r>
            <a:r>
              <a:rPr lang="en-IN" sz="2800" b="1" dirty="0" err="1">
                <a:solidFill>
                  <a:schemeClr val="tx1"/>
                </a:solidFill>
              </a:rPr>
              <a:t>Requiremets</a:t>
            </a:r>
            <a:br>
              <a:rPr lang="en-IN" dirty="0">
                <a:solidFill>
                  <a:schemeClr val="tx1"/>
                </a:solidFill>
              </a:rPr>
            </a:br>
            <a:r>
              <a:rPr lang="en-IN" dirty="0">
                <a:solidFill>
                  <a:schemeClr val="tx1"/>
                </a:solidFill>
              </a:rPr>
              <a:t>      </a:t>
            </a:r>
            <a:r>
              <a:rPr lang="en-IN" sz="2000" dirty="0">
                <a:solidFill>
                  <a:schemeClr val="tx1"/>
                </a:solidFill>
              </a:rPr>
              <a:t>Compiler : GCC / Turbo C / IDE</a:t>
            </a:r>
            <a:br>
              <a:rPr lang="en-IN" sz="2000" dirty="0">
                <a:solidFill>
                  <a:schemeClr val="tx1"/>
                </a:solidFill>
              </a:rPr>
            </a:br>
            <a:r>
              <a:rPr lang="en-IN" sz="2000" dirty="0">
                <a:solidFill>
                  <a:schemeClr val="tx1"/>
                </a:solidFill>
              </a:rPr>
              <a:t>          Operating system : Windows / Linux</a:t>
            </a:r>
            <a:br>
              <a:rPr lang="en-IN" sz="2000" dirty="0">
                <a:solidFill>
                  <a:schemeClr val="tx1"/>
                </a:solidFill>
              </a:rPr>
            </a:br>
            <a:r>
              <a:rPr lang="en-IN" sz="2000" dirty="0">
                <a:solidFill>
                  <a:schemeClr val="tx1"/>
                </a:solidFill>
              </a:rPr>
              <a:t>          Programming Language : C/C++</a:t>
            </a:r>
            <a:br>
              <a:rPr lang="en-IN" sz="2000" dirty="0">
                <a:solidFill>
                  <a:schemeClr val="tx1"/>
                </a:solidFill>
              </a:rPr>
            </a:br>
            <a:r>
              <a:rPr lang="en-IN" sz="2000" dirty="0">
                <a:solidFill>
                  <a:schemeClr val="tx1"/>
                </a:solidFill>
              </a:rPr>
              <a:t>          Database (optional) : MySQL / File System</a:t>
            </a:r>
            <a:br>
              <a:rPr lang="en-IN" sz="2000" dirty="0">
                <a:solidFill>
                  <a:schemeClr val="tx1"/>
                </a:solidFill>
              </a:rPr>
            </a:br>
            <a:endParaRPr lang="en-IN" sz="2000" dirty="0">
              <a:solidFill>
                <a:schemeClr val="tx1"/>
              </a:solidFill>
            </a:endParaRPr>
          </a:p>
        </p:txBody>
      </p:sp>
      <p:sp>
        <p:nvSpPr>
          <p:cNvPr id="4" name="Star: 5 Points 3">
            <a:extLst>
              <a:ext uri="{FF2B5EF4-FFF2-40B4-BE49-F238E27FC236}">
                <a16:creationId xmlns:a16="http://schemas.microsoft.com/office/drawing/2014/main" id="{20B24094-D3B0-4560-8F05-722D3E0EFBA7}"/>
              </a:ext>
            </a:extLst>
          </p:cNvPr>
          <p:cNvSpPr/>
          <p:nvPr/>
        </p:nvSpPr>
        <p:spPr>
          <a:xfrm>
            <a:off x="1455938" y="2308194"/>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Star: 5 Points 4">
            <a:extLst>
              <a:ext uri="{FF2B5EF4-FFF2-40B4-BE49-F238E27FC236}">
                <a16:creationId xmlns:a16="http://schemas.microsoft.com/office/drawing/2014/main" id="{AC68C7C4-83B2-4D8A-9DF3-0ABE51803CFA}"/>
              </a:ext>
            </a:extLst>
          </p:cNvPr>
          <p:cNvSpPr/>
          <p:nvPr/>
        </p:nvSpPr>
        <p:spPr>
          <a:xfrm>
            <a:off x="1455938" y="2698812"/>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tar: 5 Points 5">
            <a:extLst>
              <a:ext uri="{FF2B5EF4-FFF2-40B4-BE49-F238E27FC236}">
                <a16:creationId xmlns:a16="http://schemas.microsoft.com/office/drawing/2014/main" id="{0044CA13-3446-4F42-B35A-774395DB4717}"/>
              </a:ext>
            </a:extLst>
          </p:cNvPr>
          <p:cNvSpPr/>
          <p:nvPr/>
        </p:nvSpPr>
        <p:spPr>
          <a:xfrm>
            <a:off x="1455938" y="3107184"/>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Star: 5 Points 6">
            <a:extLst>
              <a:ext uri="{FF2B5EF4-FFF2-40B4-BE49-F238E27FC236}">
                <a16:creationId xmlns:a16="http://schemas.microsoft.com/office/drawing/2014/main" id="{C0779D4A-CDC5-43BC-B82C-2C91AC34B3DE}"/>
              </a:ext>
            </a:extLst>
          </p:cNvPr>
          <p:cNvSpPr/>
          <p:nvPr/>
        </p:nvSpPr>
        <p:spPr>
          <a:xfrm>
            <a:off x="1455938" y="4474346"/>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tar: 5 Points 7">
            <a:extLst>
              <a:ext uri="{FF2B5EF4-FFF2-40B4-BE49-F238E27FC236}">
                <a16:creationId xmlns:a16="http://schemas.microsoft.com/office/drawing/2014/main" id="{8AA956DB-D1CF-4951-BF72-7B55FFB0819F}"/>
              </a:ext>
            </a:extLst>
          </p:cNvPr>
          <p:cNvSpPr/>
          <p:nvPr/>
        </p:nvSpPr>
        <p:spPr>
          <a:xfrm>
            <a:off x="1455938" y="5015883"/>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Star: 5 Points 8">
            <a:extLst>
              <a:ext uri="{FF2B5EF4-FFF2-40B4-BE49-F238E27FC236}">
                <a16:creationId xmlns:a16="http://schemas.microsoft.com/office/drawing/2014/main" id="{548F7330-237F-4CF9-892C-8DD625B1B3E8}"/>
              </a:ext>
            </a:extLst>
          </p:cNvPr>
          <p:cNvSpPr/>
          <p:nvPr/>
        </p:nvSpPr>
        <p:spPr>
          <a:xfrm>
            <a:off x="1455938" y="5468645"/>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Star: 5 Points 10">
            <a:extLst>
              <a:ext uri="{FF2B5EF4-FFF2-40B4-BE49-F238E27FC236}">
                <a16:creationId xmlns:a16="http://schemas.microsoft.com/office/drawing/2014/main" id="{90C94AE2-24C8-406D-B0C7-9E8A9A750345}"/>
              </a:ext>
            </a:extLst>
          </p:cNvPr>
          <p:cNvSpPr/>
          <p:nvPr/>
        </p:nvSpPr>
        <p:spPr>
          <a:xfrm>
            <a:off x="1455938" y="5930283"/>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EEBA0AB7-0D36-4409-A5DB-39920A552F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9993" y="1317362"/>
            <a:ext cx="2847975" cy="3686175"/>
          </a:xfrm>
          <a:prstGeom prst="rect">
            <a:avLst/>
          </a:prstGeom>
        </p:spPr>
      </p:pic>
    </p:spTree>
    <p:extLst>
      <p:ext uri="{BB962C8B-B14F-4D97-AF65-F5344CB8AC3E}">
        <p14:creationId xmlns:p14="http://schemas.microsoft.com/office/powerpoint/2010/main" val="3523644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6791B1F-68FC-4BCA-BD8D-12AD9122A484}"/>
              </a:ext>
            </a:extLst>
          </p:cNvPr>
          <p:cNvSpPr/>
          <p:nvPr/>
        </p:nvSpPr>
        <p:spPr>
          <a:xfrm>
            <a:off x="639192" y="736847"/>
            <a:ext cx="8442664" cy="5119800"/>
          </a:xfrm>
          <a:prstGeom prst="rect">
            <a:avLst/>
          </a:prstGeom>
        </p:spPr>
        <p:txBody>
          <a:bodyPr wrap="square">
            <a:spAutoFit/>
          </a:bodyPr>
          <a:lstStyle/>
          <a:p>
            <a:pPr>
              <a:lnSpc>
                <a:spcPct val="150000"/>
              </a:lnSpc>
            </a:pPr>
            <a:r>
              <a:rPr lang="en-US" sz="4000" b="1" dirty="0">
                <a:solidFill>
                  <a:schemeClr val="accent1"/>
                </a:solidFill>
              </a:rPr>
              <a:t>INTRODUCTION</a:t>
            </a:r>
          </a:p>
          <a:p>
            <a:pPr>
              <a:lnSpc>
                <a:spcPct val="150000"/>
              </a:lnSpc>
            </a:pPr>
            <a:r>
              <a:rPr lang="en-US" dirty="0"/>
              <a:t>Kirchhoff’s Laws are fundamental principles used in electrical circuit analysis. These laws help in determining the unknown values of current and voltage </a:t>
            </a:r>
            <a:r>
              <a:rPr lang="en-US" b="1" dirty="0"/>
              <a:t>Kirchhoff’s Voltage Law (KVL)</a:t>
            </a:r>
            <a:r>
              <a:rPr lang="en-US" dirty="0"/>
              <a:t> and </a:t>
            </a:r>
            <a:r>
              <a:rPr lang="en-US" b="1" dirty="0"/>
              <a:t>Kirchhoff’s Current Law (KCL)</a:t>
            </a:r>
            <a:r>
              <a:rPr lang="en-US" dirty="0"/>
              <a:t>.</a:t>
            </a:r>
          </a:p>
          <a:p>
            <a:pPr>
              <a:lnSpc>
                <a:spcPct val="150000"/>
              </a:lnSpc>
            </a:pPr>
            <a:br>
              <a:rPr lang="en-US" dirty="0"/>
            </a:br>
            <a:r>
              <a:rPr lang="en-US" dirty="0"/>
              <a:t>         * KVL states that the algebraic sum of all voltages in a closed loop of a circuit is equal to zero, which follows the conservation of energy.</a:t>
            </a:r>
            <a:br>
              <a:rPr lang="en-US" dirty="0"/>
            </a:br>
            <a:r>
              <a:rPr lang="en-US" dirty="0"/>
              <a:t>         * KCL states that the algebraic sum of currents entering a junction is equal to the sum of currents leaving the junction, representing the conservation of charge.</a:t>
            </a:r>
            <a:br>
              <a:rPr lang="en-US" dirty="0"/>
            </a:br>
            <a:endParaRPr lang="en-US" dirty="0"/>
          </a:p>
        </p:txBody>
      </p:sp>
    </p:spTree>
    <p:extLst>
      <p:ext uri="{BB962C8B-B14F-4D97-AF65-F5344CB8AC3E}">
        <p14:creationId xmlns:p14="http://schemas.microsoft.com/office/powerpoint/2010/main" val="320807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83227C0-011B-4CA7-93C6-611EA1919E69}"/>
              </a:ext>
            </a:extLst>
          </p:cNvPr>
          <p:cNvSpPr/>
          <p:nvPr/>
        </p:nvSpPr>
        <p:spPr>
          <a:xfrm>
            <a:off x="399495" y="335846"/>
            <a:ext cx="8744505" cy="7335726"/>
          </a:xfrm>
          <a:prstGeom prst="rect">
            <a:avLst/>
          </a:prstGeom>
        </p:spPr>
        <p:txBody>
          <a:bodyPr wrap="square">
            <a:spAutoFit/>
          </a:bodyPr>
          <a:lstStyle/>
          <a:p>
            <a:pPr>
              <a:lnSpc>
                <a:spcPct val="150000"/>
              </a:lnSpc>
            </a:pPr>
            <a:r>
              <a:rPr lang="en-US" b="1" dirty="0"/>
              <a:t> </a:t>
            </a:r>
            <a:r>
              <a:rPr lang="en-US" sz="4000" b="1" dirty="0">
                <a:solidFill>
                  <a:schemeClr val="accent1"/>
                </a:solidFill>
              </a:rPr>
              <a:t>ALGORITHM</a:t>
            </a:r>
          </a:p>
          <a:p>
            <a:pPr>
              <a:lnSpc>
                <a:spcPct val="150000"/>
              </a:lnSpc>
            </a:pPr>
            <a:r>
              <a:rPr lang="en-US" sz="2400" b="1" dirty="0"/>
              <a:t>STEP-1</a:t>
            </a:r>
            <a:r>
              <a:rPr lang="en-US" b="1" dirty="0"/>
              <a:t>:</a:t>
            </a:r>
            <a:r>
              <a:rPr lang="en-US" dirty="0"/>
              <a:t> Start the program.</a:t>
            </a:r>
            <a:br>
              <a:rPr lang="en-US" dirty="0"/>
            </a:br>
            <a:r>
              <a:rPr lang="en-US" dirty="0"/>
              <a:t> • Initialize required variables and arrays.</a:t>
            </a:r>
            <a:br>
              <a:rPr lang="en-US" dirty="0"/>
            </a:br>
            <a:r>
              <a:rPr lang="en-US" dirty="0"/>
              <a:t> • Display the title “Verification of KVL and KCL”.</a:t>
            </a:r>
          </a:p>
          <a:p>
            <a:pPr>
              <a:lnSpc>
                <a:spcPct val="150000"/>
              </a:lnSpc>
            </a:pPr>
            <a:r>
              <a:rPr lang="en-US" sz="2400" b="1" dirty="0"/>
              <a:t>STEP-2</a:t>
            </a:r>
            <a:r>
              <a:rPr lang="en-US" b="1" dirty="0"/>
              <a:t>:</a:t>
            </a:r>
            <a:r>
              <a:rPr lang="en-US" dirty="0"/>
              <a:t> Display the menu with two choices:</a:t>
            </a:r>
            <a:br>
              <a:rPr lang="en-US" dirty="0"/>
            </a:br>
            <a:r>
              <a:rPr lang="en-US" dirty="0"/>
              <a:t> • Option 1 → Verify Kirchhoff’s Voltage Law (KVL)</a:t>
            </a:r>
            <a:br>
              <a:rPr lang="en-US" dirty="0"/>
            </a:br>
            <a:r>
              <a:rPr lang="en-US" dirty="0"/>
              <a:t> • Option 2 → Verify Kirchhoff’s Current Law (KCL)</a:t>
            </a:r>
            <a:br>
              <a:rPr lang="en-US" dirty="0"/>
            </a:br>
            <a:r>
              <a:rPr lang="en-US" dirty="0"/>
              <a:t> • Prompt the user to enter their choice.</a:t>
            </a:r>
          </a:p>
          <a:p>
            <a:pPr>
              <a:lnSpc>
                <a:spcPct val="150000"/>
              </a:lnSpc>
            </a:pPr>
            <a:r>
              <a:rPr lang="en-US" sz="2400" b="1" dirty="0"/>
              <a:t>STEP-3</a:t>
            </a:r>
            <a:r>
              <a:rPr lang="en-US" b="1" dirty="0"/>
              <a:t>:</a:t>
            </a:r>
            <a:r>
              <a:rPr lang="en-US" dirty="0"/>
              <a:t> Read the user’s choice and store it in the variable </a:t>
            </a:r>
            <a:r>
              <a:rPr lang="en-US" i="1" dirty="0"/>
              <a:t>choice</a:t>
            </a:r>
            <a:r>
              <a:rPr lang="en-US" dirty="0"/>
              <a:t>.</a:t>
            </a:r>
          </a:p>
          <a:p>
            <a:pPr>
              <a:lnSpc>
                <a:spcPct val="150000"/>
              </a:lnSpc>
            </a:pPr>
            <a:r>
              <a:rPr lang="en-US" sz="2400" b="1" dirty="0"/>
              <a:t>STEP-4</a:t>
            </a:r>
            <a:r>
              <a:rPr lang="en-US" b="1" dirty="0"/>
              <a:t>:</a:t>
            </a:r>
            <a:r>
              <a:rPr lang="en-US" dirty="0"/>
              <a:t> If </a:t>
            </a:r>
            <a:r>
              <a:rPr lang="en-US" i="1" dirty="0"/>
              <a:t>choice = 1</a:t>
            </a:r>
            <a:r>
              <a:rPr lang="en-US" dirty="0"/>
              <a:t> (KVL selected), then:</a:t>
            </a:r>
            <a:br>
              <a:rPr lang="en-US" dirty="0"/>
            </a:br>
            <a:r>
              <a:rPr lang="en-US" dirty="0"/>
              <a:t> a) Ask the user to enter the number of voltage elements “n”.</a:t>
            </a:r>
            <a:br>
              <a:rPr lang="en-US" dirty="0"/>
            </a:br>
            <a:r>
              <a:rPr lang="en-US" dirty="0"/>
              <a:t> b) Input the value of “n”.</a:t>
            </a:r>
            <a:br>
              <a:rPr lang="en-US" dirty="0"/>
            </a:br>
            <a:r>
              <a:rPr lang="en-US" dirty="0"/>
              <a:t> c) Prompt the user to enter n voltages representing voltage rises (+) and drops (–).</a:t>
            </a:r>
            <a:br>
              <a:rPr lang="en-US" dirty="0"/>
            </a:br>
            <a:r>
              <a:rPr lang="en-US" dirty="0"/>
              <a:t> </a:t>
            </a:r>
          </a:p>
        </p:txBody>
      </p:sp>
    </p:spTree>
    <p:extLst>
      <p:ext uri="{BB962C8B-B14F-4D97-AF65-F5344CB8AC3E}">
        <p14:creationId xmlns:p14="http://schemas.microsoft.com/office/powerpoint/2010/main" val="2841820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45F5DF4-0B52-463F-BA62-596C276398B2}"/>
              </a:ext>
            </a:extLst>
          </p:cNvPr>
          <p:cNvSpPr/>
          <p:nvPr/>
        </p:nvSpPr>
        <p:spPr>
          <a:xfrm>
            <a:off x="541538" y="419328"/>
            <a:ext cx="9783192" cy="5858399"/>
          </a:xfrm>
          <a:prstGeom prst="rect">
            <a:avLst/>
          </a:prstGeom>
        </p:spPr>
        <p:txBody>
          <a:bodyPr wrap="square">
            <a:spAutoFit/>
          </a:bodyPr>
          <a:lstStyle/>
          <a:p>
            <a:pPr>
              <a:lnSpc>
                <a:spcPct val="150000"/>
              </a:lnSpc>
            </a:pPr>
            <a:r>
              <a:rPr lang="en-US" dirty="0"/>
              <a:t>d) Read all voltage values into the array.</a:t>
            </a:r>
          </a:p>
          <a:p>
            <a:pPr>
              <a:lnSpc>
                <a:spcPct val="150000"/>
              </a:lnSpc>
            </a:pPr>
            <a:r>
              <a:rPr lang="en-US" sz="2400" b="1" dirty="0"/>
              <a:t>STEP-5</a:t>
            </a:r>
            <a:r>
              <a:rPr lang="en-US" b="1" dirty="0"/>
              <a:t>:</a:t>
            </a:r>
            <a:r>
              <a:rPr lang="en-US" dirty="0"/>
              <a:t> Calculate the algebraic sum of all entered voltages:</a:t>
            </a:r>
            <a:br>
              <a:rPr lang="en-US" dirty="0"/>
            </a:br>
            <a:r>
              <a:rPr lang="en-US" dirty="0"/>
              <a:t> a) Initialize sum ← 0.</a:t>
            </a:r>
            <a:br>
              <a:rPr lang="en-US" dirty="0"/>
            </a:br>
            <a:r>
              <a:rPr lang="en-US" dirty="0"/>
              <a:t> b) Traverse the voltage array from index 0 to n−1.</a:t>
            </a:r>
            <a:br>
              <a:rPr lang="en-US" dirty="0"/>
            </a:br>
            <a:r>
              <a:rPr lang="en-US" dirty="0"/>
              <a:t> c) Add each voltage to variable </a:t>
            </a:r>
            <a:r>
              <a:rPr lang="en-US" i="1" dirty="0"/>
              <a:t>sum</a:t>
            </a:r>
            <a:r>
              <a:rPr lang="en-US" dirty="0"/>
              <a:t>.</a:t>
            </a:r>
          </a:p>
          <a:p>
            <a:pPr>
              <a:lnSpc>
                <a:spcPct val="150000"/>
              </a:lnSpc>
            </a:pPr>
            <a:r>
              <a:rPr lang="en-US" sz="2400" b="1" dirty="0"/>
              <a:t>STEP-6</a:t>
            </a:r>
            <a:r>
              <a:rPr lang="en-US" b="1" dirty="0"/>
              <a:t>:</a:t>
            </a:r>
            <a:r>
              <a:rPr lang="en-US" dirty="0"/>
              <a:t> Check the KVL condition:</a:t>
            </a:r>
            <a:br>
              <a:rPr lang="en-US" dirty="0"/>
            </a:br>
            <a:r>
              <a:rPr lang="en-US" dirty="0"/>
              <a:t> a) If </a:t>
            </a:r>
            <a:r>
              <a:rPr lang="en-US" i="1" dirty="0"/>
              <a:t>sum == 0</a:t>
            </a:r>
            <a:r>
              <a:rPr lang="en-US" dirty="0"/>
              <a:t>, display message: “KVL Verified: Sum of voltages = 0”.</a:t>
            </a:r>
            <a:br>
              <a:rPr lang="en-US" dirty="0"/>
            </a:br>
            <a:r>
              <a:rPr lang="en-US" dirty="0"/>
              <a:t> b) Otherwise, display: “KVL Not Satisfied: Sum of voltages ≠ 0”.</a:t>
            </a:r>
          </a:p>
          <a:p>
            <a:pPr>
              <a:lnSpc>
                <a:spcPct val="150000"/>
              </a:lnSpc>
            </a:pPr>
            <a:r>
              <a:rPr lang="en-US" sz="2400" b="1" dirty="0"/>
              <a:t>STEP-7</a:t>
            </a:r>
            <a:r>
              <a:rPr lang="en-US" b="1" dirty="0"/>
              <a:t>:</a:t>
            </a:r>
            <a:r>
              <a:rPr lang="en-US" dirty="0"/>
              <a:t> If </a:t>
            </a:r>
            <a:r>
              <a:rPr lang="en-US" i="1" dirty="0"/>
              <a:t>choice = 2</a:t>
            </a:r>
            <a:r>
              <a:rPr lang="en-US" dirty="0"/>
              <a:t> (KCL selected), then:</a:t>
            </a:r>
            <a:br>
              <a:rPr lang="en-US" dirty="0"/>
            </a:br>
            <a:r>
              <a:rPr lang="en-US" dirty="0"/>
              <a:t> a) Ask the user to enter number of entering currents (n1).</a:t>
            </a:r>
            <a:br>
              <a:rPr lang="en-US" dirty="0"/>
            </a:br>
            <a:r>
              <a:rPr lang="en-US" dirty="0"/>
              <a:t> b) Read n1 current values and store them in array </a:t>
            </a:r>
            <a:r>
              <a:rPr lang="en-US" i="1" dirty="0"/>
              <a:t>in</a:t>
            </a:r>
            <a:r>
              <a:rPr lang="en-US" dirty="0"/>
              <a:t>.</a:t>
            </a:r>
            <a:br>
              <a:rPr lang="en-US" dirty="0"/>
            </a:br>
            <a:r>
              <a:rPr lang="en-US" dirty="0"/>
              <a:t> c) Ask the user to enter number of leaving currents (n2).</a:t>
            </a:r>
            <a:br>
              <a:rPr lang="en-US" dirty="0"/>
            </a:br>
            <a:r>
              <a:rPr lang="en-US" dirty="0"/>
              <a:t> d) Read n2 current values and store them in array </a:t>
            </a:r>
            <a:r>
              <a:rPr lang="en-US" i="1" dirty="0"/>
              <a:t>out</a:t>
            </a:r>
            <a:r>
              <a:rPr lang="en-US" dirty="0"/>
              <a:t>.</a:t>
            </a:r>
          </a:p>
        </p:txBody>
      </p:sp>
    </p:spTree>
    <p:extLst>
      <p:ext uri="{BB962C8B-B14F-4D97-AF65-F5344CB8AC3E}">
        <p14:creationId xmlns:p14="http://schemas.microsoft.com/office/powerpoint/2010/main" val="278323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29F2DBB-82D9-43E1-9005-D0D418B28883}"/>
              </a:ext>
            </a:extLst>
          </p:cNvPr>
          <p:cNvSpPr/>
          <p:nvPr/>
        </p:nvSpPr>
        <p:spPr>
          <a:xfrm>
            <a:off x="559293" y="458420"/>
            <a:ext cx="8788893" cy="5027402"/>
          </a:xfrm>
          <a:prstGeom prst="rect">
            <a:avLst/>
          </a:prstGeom>
        </p:spPr>
        <p:txBody>
          <a:bodyPr wrap="square">
            <a:spAutoFit/>
          </a:bodyPr>
          <a:lstStyle/>
          <a:p>
            <a:pPr>
              <a:lnSpc>
                <a:spcPct val="150000"/>
              </a:lnSpc>
            </a:pPr>
            <a:r>
              <a:rPr lang="en-US" sz="2400" b="1" dirty="0"/>
              <a:t>STEP-8</a:t>
            </a:r>
            <a:r>
              <a:rPr lang="en-US" b="1" dirty="0"/>
              <a:t>:</a:t>
            </a:r>
            <a:r>
              <a:rPr lang="en-US" dirty="0"/>
              <a:t> Compute total entering and leaving currents separately:</a:t>
            </a:r>
            <a:br>
              <a:rPr lang="en-US" dirty="0"/>
            </a:br>
            <a:r>
              <a:rPr lang="en-US" dirty="0"/>
              <a:t> a) Initialize variables Sum(in) = 0 and Sum(out) = 0.</a:t>
            </a:r>
            <a:br>
              <a:rPr lang="en-US" dirty="0"/>
            </a:br>
            <a:r>
              <a:rPr lang="en-US" dirty="0"/>
              <a:t> b) Sum all currents in </a:t>
            </a:r>
            <a:r>
              <a:rPr lang="en-US" i="1" dirty="0"/>
              <a:t>in[]</a:t>
            </a:r>
            <a:r>
              <a:rPr lang="en-US" dirty="0"/>
              <a:t> and store in Sum(in).</a:t>
            </a:r>
            <a:br>
              <a:rPr lang="en-US" dirty="0"/>
            </a:br>
            <a:r>
              <a:rPr lang="en-US" dirty="0"/>
              <a:t> c) Sum all currents in </a:t>
            </a:r>
            <a:r>
              <a:rPr lang="en-US" i="1" dirty="0"/>
              <a:t>out[]</a:t>
            </a:r>
            <a:r>
              <a:rPr lang="en-US" dirty="0"/>
              <a:t> and store in Sum(out).</a:t>
            </a:r>
          </a:p>
          <a:p>
            <a:pPr>
              <a:lnSpc>
                <a:spcPct val="150000"/>
              </a:lnSpc>
            </a:pPr>
            <a:r>
              <a:rPr lang="en-US" sz="2400" b="1" dirty="0"/>
              <a:t>STEP-9</a:t>
            </a:r>
            <a:r>
              <a:rPr lang="en-US" b="1" dirty="0"/>
              <a:t>:</a:t>
            </a:r>
            <a:r>
              <a:rPr lang="en-US" dirty="0"/>
              <a:t> Check the KCL condition:</a:t>
            </a:r>
            <a:br>
              <a:rPr lang="en-US" dirty="0"/>
            </a:br>
            <a:r>
              <a:rPr lang="en-US" dirty="0"/>
              <a:t> a) If Sum(in) == Sum(out) → Print “KCL Verified: Sum of entering currents = Sum of leaving currents”.</a:t>
            </a:r>
            <a:br>
              <a:rPr lang="en-US" dirty="0"/>
            </a:br>
            <a:r>
              <a:rPr lang="en-US" dirty="0"/>
              <a:t> b) Else → Print “KCL Not Satisfied: Current sum mismatch”.</a:t>
            </a:r>
          </a:p>
          <a:p>
            <a:pPr>
              <a:lnSpc>
                <a:spcPct val="150000"/>
              </a:lnSpc>
            </a:pPr>
            <a:r>
              <a:rPr lang="en-US" sz="2400" b="1" dirty="0"/>
              <a:t>STEP-10</a:t>
            </a:r>
            <a:r>
              <a:rPr lang="en-US" b="1" dirty="0"/>
              <a:t>:</a:t>
            </a:r>
            <a:r>
              <a:rPr lang="en-US" dirty="0"/>
              <a:t> If the user chooses neither 1 nor 2, print “Invalid Choice”.</a:t>
            </a:r>
            <a:br>
              <a:rPr lang="en-US" dirty="0"/>
            </a:br>
            <a:r>
              <a:rPr lang="en-US" dirty="0"/>
              <a:t> • Stop all operations and terminate the program.</a:t>
            </a:r>
            <a:br>
              <a:rPr lang="en-US" dirty="0"/>
            </a:br>
            <a:r>
              <a:rPr lang="en-US" dirty="0"/>
              <a:t> • End the program execution.</a:t>
            </a:r>
          </a:p>
        </p:txBody>
      </p:sp>
    </p:spTree>
    <p:extLst>
      <p:ext uri="{BB962C8B-B14F-4D97-AF65-F5344CB8AC3E}">
        <p14:creationId xmlns:p14="http://schemas.microsoft.com/office/powerpoint/2010/main" val="2123347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24DCE1-5B3E-461F-A472-DB4DB2510235}"/>
              </a:ext>
            </a:extLst>
          </p:cNvPr>
          <p:cNvSpPr/>
          <p:nvPr/>
        </p:nvSpPr>
        <p:spPr>
          <a:xfrm>
            <a:off x="905522" y="197346"/>
            <a:ext cx="8238478" cy="1231106"/>
          </a:xfrm>
          <a:prstGeom prst="rect">
            <a:avLst/>
          </a:prstGeom>
        </p:spPr>
        <p:txBody>
          <a:bodyPr wrap="square">
            <a:spAutoFit/>
          </a:bodyPr>
          <a:lstStyle/>
          <a:p>
            <a:r>
              <a:rPr lang="en-IN" sz="4000" dirty="0"/>
              <a:t> </a:t>
            </a:r>
            <a:r>
              <a:rPr lang="en-IN" sz="4000" b="1" dirty="0">
                <a:solidFill>
                  <a:schemeClr val="accent1"/>
                </a:solidFill>
              </a:rPr>
              <a:t>FLOWCHART</a:t>
            </a:r>
            <a:r>
              <a:rPr lang="en-IN" sz="4000" dirty="0"/>
              <a:t> </a:t>
            </a:r>
          </a:p>
          <a:p>
            <a:endParaRPr lang="en-IN" dirty="0"/>
          </a:p>
          <a:p>
            <a:endParaRPr lang="en-IN" sz="1600" dirty="0"/>
          </a:p>
        </p:txBody>
      </p:sp>
      <p:pic>
        <p:nvPicPr>
          <p:cNvPr id="24" name="Picture 23">
            <a:extLst>
              <a:ext uri="{FF2B5EF4-FFF2-40B4-BE49-F238E27FC236}">
                <a16:creationId xmlns:a16="http://schemas.microsoft.com/office/drawing/2014/main" id="{CA4ADBFF-3A33-445F-BE5E-E02DEF301089}"/>
              </a:ext>
            </a:extLst>
          </p:cNvPr>
          <p:cNvPicPr>
            <a:picLocks noChangeAspect="1"/>
          </p:cNvPicPr>
          <p:nvPr/>
        </p:nvPicPr>
        <p:blipFill>
          <a:blip r:embed="rId2">
            <a:clrChange>
              <a:clrFrom>
                <a:srgbClr val="263844"/>
              </a:clrFrom>
              <a:clrTo>
                <a:srgbClr val="263844">
                  <a:alpha val="0"/>
                </a:srgbClr>
              </a:clrTo>
            </a:clrChange>
            <a:extLst>
              <a:ext uri="{28A0092B-C50C-407E-A947-70E740481C1C}">
                <a14:useLocalDpi xmlns:a14="http://schemas.microsoft.com/office/drawing/2010/main" val="0"/>
              </a:ext>
            </a:extLst>
          </a:blip>
          <a:stretch>
            <a:fillRect/>
          </a:stretch>
        </p:blipFill>
        <p:spPr>
          <a:xfrm>
            <a:off x="676183" y="1278488"/>
            <a:ext cx="4572000" cy="5382166"/>
          </a:xfrm>
          <a:prstGeom prst="rect">
            <a:avLst/>
          </a:prstGeom>
        </p:spPr>
      </p:pic>
    </p:spTree>
    <p:extLst>
      <p:ext uri="{BB962C8B-B14F-4D97-AF65-F5344CB8AC3E}">
        <p14:creationId xmlns:p14="http://schemas.microsoft.com/office/powerpoint/2010/main" val="550710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066482F-7F8C-470E-9640-B2B7CF10F5ED}"/>
              </a:ext>
            </a:extLst>
          </p:cNvPr>
          <p:cNvGraphicFramePr>
            <a:graphicFrameLocks noGrp="1"/>
          </p:cNvGraphicFramePr>
          <p:nvPr>
            <p:extLst>
              <p:ext uri="{D42A27DB-BD31-4B8C-83A1-F6EECF244321}">
                <p14:modId xmlns:p14="http://schemas.microsoft.com/office/powerpoint/2010/main" val="4072576609"/>
              </p:ext>
            </p:extLst>
          </p:nvPr>
        </p:nvGraphicFramePr>
        <p:xfrm>
          <a:off x="985421" y="1427411"/>
          <a:ext cx="4500980" cy="2512380"/>
        </p:xfrm>
        <a:graphic>
          <a:graphicData uri="http://schemas.openxmlformats.org/drawingml/2006/table">
            <a:tbl>
              <a:tblPr/>
              <a:tblGrid>
                <a:gridCol w="1012055">
                  <a:extLst>
                    <a:ext uri="{9D8B030D-6E8A-4147-A177-3AD203B41FA5}">
                      <a16:colId xmlns:a16="http://schemas.microsoft.com/office/drawing/2014/main" val="2559822450"/>
                    </a:ext>
                  </a:extLst>
                </a:gridCol>
                <a:gridCol w="3488925">
                  <a:extLst>
                    <a:ext uri="{9D8B030D-6E8A-4147-A177-3AD203B41FA5}">
                      <a16:colId xmlns:a16="http://schemas.microsoft.com/office/drawing/2014/main" val="4127279808"/>
                    </a:ext>
                  </a:extLst>
                </a:gridCol>
              </a:tblGrid>
              <a:tr h="386520">
                <a:tc>
                  <a:txBody>
                    <a:bodyPr/>
                    <a:lstStyle/>
                    <a:p>
                      <a:r>
                        <a:rPr lang="en-IN" u="sng" dirty="0"/>
                        <a:t>Module</a:t>
                      </a:r>
                    </a:p>
                  </a:txBody>
                  <a:tcPr anchor="ctr">
                    <a:lnL>
                      <a:noFill/>
                    </a:lnL>
                    <a:lnR>
                      <a:noFill/>
                    </a:lnR>
                    <a:lnT>
                      <a:noFill/>
                    </a:lnT>
                    <a:lnB>
                      <a:noFill/>
                    </a:lnB>
                  </a:tcPr>
                </a:tc>
                <a:tc>
                  <a:txBody>
                    <a:bodyPr/>
                    <a:lstStyle/>
                    <a:p>
                      <a:r>
                        <a:rPr lang="en-IN" u="sng" dirty="0"/>
                        <a:t>Logic</a:t>
                      </a:r>
                    </a:p>
                  </a:txBody>
                  <a:tcPr anchor="ctr">
                    <a:lnL>
                      <a:noFill/>
                    </a:lnL>
                    <a:lnR>
                      <a:noFill/>
                    </a:lnR>
                    <a:lnT>
                      <a:noFill/>
                    </a:lnT>
                    <a:lnB>
                      <a:noFill/>
                    </a:lnB>
                  </a:tcPr>
                </a:tc>
                <a:extLst>
                  <a:ext uri="{0D108BD9-81ED-4DB2-BD59-A6C34878D82A}">
                    <a16:rowId xmlns:a16="http://schemas.microsoft.com/office/drawing/2014/main" val="291827731"/>
                  </a:ext>
                </a:extLst>
              </a:tr>
              <a:tr h="386520">
                <a:tc>
                  <a:txBody>
                    <a:bodyPr/>
                    <a:lstStyle/>
                    <a:p>
                      <a:r>
                        <a:rPr lang="en-IN" dirty="0"/>
                        <a:t>M1   </a:t>
                      </a:r>
                      <a:r>
                        <a:rPr lang="en-IN" dirty="0">
                          <a:sym typeface="Wingdings" panose="05000000000000000000" pitchFamily="2" charset="2"/>
                        </a:rPr>
                        <a:t></a:t>
                      </a:r>
                      <a:endParaRPr lang="en-IN" dirty="0"/>
                    </a:p>
                  </a:txBody>
                  <a:tcPr anchor="ctr">
                    <a:lnL>
                      <a:noFill/>
                    </a:lnL>
                    <a:lnR>
                      <a:noFill/>
                    </a:lnR>
                    <a:lnT>
                      <a:noFill/>
                    </a:lnT>
                    <a:lnB>
                      <a:noFill/>
                    </a:lnB>
                  </a:tcPr>
                </a:tc>
                <a:tc>
                  <a:txBody>
                    <a:bodyPr/>
                    <a:lstStyle/>
                    <a:p>
                      <a:r>
                        <a:rPr lang="en-US" dirty="0"/>
                        <a:t>Use arrays to store user inputs</a:t>
                      </a:r>
                    </a:p>
                  </a:txBody>
                  <a:tcPr anchor="ctr">
                    <a:lnL>
                      <a:noFill/>
                    </a:lnL>
                    <a:lnR>
                      <a:noFill/>
                    </a:lnR>
                    <a:lnT>
                      <a:noFill/>
                    </a:lnT>
                    <a:lnB>
                      <a:noFill/>
                    </a:lnB>
                  </a:tcPr>
                </a:tc>
                <a:extLst>
                  <a:ext uri="{0D108BD9-81ED-4DB2-BD59-A6C34878D82A}">
                    <a16:rowId xmlns:a16="http://schemas.microsoft.com/office/drawing/2014/main" val="4287819271"/>
                  </a:ext>
                </a:extLst>
              </a:tr>
              <a:tr h="676410">
                <a:tc>
                  <a:txBody>
                    <a:bodyPr/>
                    <a:lstStyle/>
                    <a:p>
                      <a:r>
                        <a:rPr lang="en-IN" dirty="0"/>
                        <a:t>M2   </a:t>
                      </a:r>
                      <a:r>
                        <a:rPr lang="en-IN" dirty="0">
                          <a:sym typeface="Wingdings" panose="05000000000000000000" pitchFamily="2" charset="2"/>
                        </a:rPr>
                        <a:t></a:t>
                      </a:r>
                      <a:endParaRPr lang="en-IN" dirty="0"/>
                    </a:p>
                  </a:txBody>
                  <a:tcPr anchor="ctr">
                    <a:lnL>
                      <a:noFill/>
                    </a:lnL>
                    <a:lnR>
                      <a:noFill/>
                    </a:lnR>
                    <a:lnT>
                      <a:noFill/>
                    </a:lnT>
                    <a:lnB>
                      <a:noFill/>
                    </a:lnB>
                  </a:tcPr>
                </a:tc>
                <a:tc>
                  <a:txBody>
                    <a:bodyPr/>
                    <a:lstStyle/>
                    <a:p>
                      <a:r>
                        <a:rPr lang="en-US"/>
                        <a:t>Loop to sum voltages and check if result ≈ 0</a:t>
                      </a:r>
                    </a:p>
                  </a:txBody>
                  <a:tcPr anchor="ctr">
                    <a:lnL>
                      <a:noFill/>
                    </a:lnL>
                    <a:lnR>
                      <a:noFill/>
                    </a:lnR>
                    <a:lnT>
                      <a:noFill/>
                    </a:lnT>
                    <a:lnB>
                      <a:noFill/>
                    </a:lnB>
                  </a:tcPr>
                </a:tc>
                <a:extLst>
                  <a:ext uri="{0D108BD9-81ED-4DB2-BD59-A6C34878D82A}">
                    <a16:rowId xmlns:a16="http://schemas.microsoft.com/office/drawing/2014/main" val="4210856456"/>
                  </a:ext>
                </a:extLst>
              </a:tr>
              <a:tr h="676410">
                <a:tc>
                  <a:txBody>
                    <a:bodyPr/>
                    <a:lstStyle/>
                    <a:p>
                      <a:r>
                        <a:rPr lang="en-IN" dirty="0"/>
                        <a:t>M3   </a:t>
                      </a:r>
                      <a:r>
                        <a:rPr lang="en-IN" dirty="0">
                          <a:sym typeface="Wingdings" panose="05000000000000000000" pitchFamily="2" charset="2"/>
                        </a:rPr>
                        <a:t></a:t>
                      </a:r>
                      <a:endParaRPr lang="en-IN" dirty="0"/>
                    </a:p>
                  </a:txBody>
                  <a:tcPr anchor="ctr">
                    <a:lnL>
                      <a:noFill/>
                    </a:lnL>
                    <a:lnR>
                      <a:noFill/>
                    </a:lnR>
                    <a:lnT>
                      <a:noFill/>
                    </a:lnT>
                    <a:lnB>
                      <a:noFill/>
                    </a:lnB>
                  </a:tcPr>
                </a:tc>
                <a:tc>
                  <a:txBody>
                    <a:bodyPr/>
                    <a:lstStyle/>
                    <a:p>
                      <a:r>
                        <a:rPr lang="en-US"/>
                        <a:t>Check if entering current sum equals leaving</a:t>
                      </a:r>
                    </a:p>
                  </a:txBody>
                  <a:tcPr anchor="ctr">
                    <a:lnL>
                      <a:noFill/>
                    </a:lnL>
                    <a:lnR>
                      <a:noFill/>
                    </a:lnR>
                    <a:lnT>
                      <a:noFill/>
                    </a:lnT>
                    <a:lnB>
                      <a:noFill/>
                    </a:lnB>
                  </a:tcPr>
                </a:tc>
                <a:extLst>
                  <a:ext uri="{0D108BD9-81ED-4DB2-BD59-A6C34878D82A}">
                    <a16:rowId xmlns:a16="http://schemas.microsoft.com/office/drawing/2014/main" val="3075996291"/>
                  </a:ext>
                </a:extLst>
              </a:tr>
              <a:tr h="386520">
                <a:tc>
                  <a:txBody>
                    <a:bodyPr/>
                    <a:lstStyle/>
                    <a:p>
                      <a:r>
                        <a:rPr lang="en-IN" dirty="0"/>
                        <a:t>M4   </a:t>
                      </a:r>
                      <a:r>
                        <a:rPr lang="en-IN" dirty="0">
                          <a:sym typeface="Wingdings" panose="05000000000000000000" pitchFamily="2" charset="2"/>
                        </a:rPr>
                        <a:t></a:t>
                      </a:r>
                      <a:endParaRPr lang="en-IN" dirty="0"/>
                    </a:p>
                  </a:txBody>
                  <a:tcPr anchor="ctr">
                    <a:lnL>
                      <a:noFill/>
                    </a:lnL>
                    <a:lnR>
                      <a:noFill/>
                    </a:lnR>
                    <a:lnT>
                      <a:noFill/>
                    </a:lnT>
                    <a:lnB>
                      <a:noFill/>
                    </a:lnB>
                  </a:tcPr>
                </a:tc>
                <a:tc>
                  <a:txBody>
                    <a:bodyPr/>
                    <a:lstStyle/>
                    <a:p>
                      <a:r>
                        <a:rPr lang="en-US" dirty="0"/>
                        <a:t>Use conditionals to print result</a:t>
                      </a:r>
                    </a:p>
                  </a:txBody>
                  <a:tcPr anchor="ctr">
                    <a:lnL>
                      <a:noFill/>
                    </a:lnL>
                    <a:lnR>
                      <a:noFill/>
                    </a:lnR>
                    <a:lnT>
                      <a:noFill/>
                    </a:lnT>
                    <a:lnB>
                      <a:noFill/>
                    </a:lnB>
                  </a:tcPr>
                </a:tc>
                <a:extLst>
                  <a:ext uri="{0D108BD9-81ED-4DB2-BD59-A6C34878D82A}">
                    <a16:rowId xmlns:a16="http://schemas.microsoft.com/office/drawing/2014/main" val="317805796"/>
                  </a:ext>
                </a:extLst>
              </a:tr>
            </a:tbl>
          </a:graphicData>
        </a:graphic>
      </p:graphicFrame>
      <p:sp>
        <p:nvSpPr>
          <p:cNvPr id="3" name="Rectangle 1">
            <a:extLst>
              <a:ext uri="{FF2B5EF4-FFF2-40B4-BE49-F238E27FC236}">
                <a16:creationId xmlns:a16="http://schemas.microsoft.com/office/drawing/2014/main" id="{9D2DF35E-A478-4578-AEDC-B7084F5CD833}"/>
              </a:ext>
            </a:extLst>
          </p:cNvPr>
          <p:cNvSpPr>
            <a:spLocks noChangeArrowheads="1"/>
          </p:cNvSpPr>
          <p:nvPr/>
        </p:nvSpPr>
        <p:spPr bwMode="auto">
          <a:xfrm>
            <a:off x="887767" y="442526"/>
            <a:ext cx="11875564"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chemeClr val="accent1"/>
                </a:solidFill>
                <a:effectLst/>
                <a:latin typeface="Arial" panose="020B0604020202020204" pitchFamily="34" charset="0"/>
              </a:rPr>
              <a:t>MODULE WISE LOGIC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6BA8698B-736B-4FAF-9CBC-00CA90262A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5600" y="1525066"/>
            <a:ext cx="2500543" cy="2150290"/>
          </a:xfrm>
          <a:prstGeom prst="rect">
            <a:avLst/>
          </a:prstGeom>
        </p:spPr>
      </p:pic>
    </p:spTree>
    <p:extLst>
      <p:ext uri="{BB962C8B-B14F-4D97-AF65-F5344CB8AC3E}">
        <p14:creationId xmlns:p14="http://schemas.microsoft.com/office/powerpoint/2010/main" val="1123684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1DBC1C7-214E-4DAA-88AB-2486DDDED2EF}"/>
              </a:ext>
            </a:extLst>
          </p:cNvPr>
          <p:cNvSpPr/>
          <p:nvPr/>
        </p:nvSpPr>
        <p:spPr>
          <a:xfrm>
            <a:off x="976544" y="452761"/>
            <a:ext cx="8318376" cy="2431435"/>
          </a:xfrm>
          <a:prstGeom prst="rect">
            <a:avLst/>
          </a:prstGeom>
        </p:spPr>
        <p:txBody>
          <a:bodyPr wrap="square">
            <a:spAutoFit/>
          </a:bodyPr>
          <a:lstStyle/>
          <a:p>
            <a:r>
              <a:rPr lang="en-IN" sz="4000" b="1" dirty="0">
                <a:solidFill>
                  <a:schemeClr val="accent1"/>
                </a:solidFill>
              </a:rPr>
              <a:t>FORMULAS</a:t>
            </a:r>
          </a:p>
          <a:p>
            <a:endParaRPr lang="en-IN" sz="2400" dirty="0"/>
          </a:p>
          <a:p>
            <a:r>
              <a:rPr lang="en-US" sz="2400" dirty="0"/>
              <a:t>KVL :  ΣV = 0 (Voltage Sum in Loop)</a:t>
            </a:r>
          </a:p>
          <a:p>
            <a:r>
              <a:rPr lang="en-US" sz="2400" dirty="0"/>
              <a:t>KCL :  ΣI(in) = ΣI(out) (Current Sum at Junction)</a:t>
            </a:r>
          </a:p>
          <a:p>
            <a:endParaRPr lang="en-IN" sz="4000" dirty="0"/>
          </a:p>
        </p:txBody>
      </p:sp>
      <p:sp>
        <p:nvSpPr>
          <p:cNvPr id="4" name="Rectangle 3">
            <a:extLst>
              <a:ext uri="{FF2B5EF4-FFF2-40B4-BE49-F238E27FC236}">
                <a16:creationId xmlns:a16="http://schemas.microsoft.com/office/drawing/2014/main" id="{D8C6CA31-9675-4B00-9F23-4CED3304F917}"/>
              </a:ext>
            </a:extLst>
          </p:cNvPr>
          <p:cNvSpPr/>
          <p:nvPr/>
        </p:nvSpPr>
        <p:spPr>
          <a:xfrm>
            <a:off x="976544" y="2721114"/>
            <a:ext cx="2638864" cy="707886"/>
          </a:xfrm>
          <a:prstGeom prst="rect">
            <a:avLst/>
          </a:prstGeom>
        </p:spPr>
        <p:txBody>
          <a:bodyPr wrap="none">
            <a:spAutoFit/>
          </a:bodyPr>
          <a:lstStyle/>
          <a:p>
            <a:r>
              <a:rPr lang="en-IN" sz="4000" b="1" dirty="0">
                <a:solidFill>
                  <a:schemeClr val="accent1"/>
                </a:solidFill>
              </a:rPr>
              <a:t>C Program</a:t>
            </a:r>
          </a:p>
        </p:txBody>
      </p:sp>
      <p:sp>
        <p:nvSpPr>
          <p:cNvPr id="5" name="Rectangle 4">
            <a:extLst>
              <a:ext uri="{FF2B5EF4-FFF2-40B4-BE49-F238E27FC236}">
                <a16:creationId xmlns:a16="http://schemas.microsoft.com/office/drawing/2014/main" id="{4F5CA6C0-4232-4960-8DCC-317FA3971275}"/>
              </a:ext>
            </a:extLst>
          </p:cNvPr>
          <p:cNvSpPr/>
          <p:nvPr/>
        </p:nvSpPr>
        <p:spPr>
          <a:xfrm>
            <a:off x="908480" y="3619862"/>
            <a:ext cx="8226641" cy="1200329"/>
          </a:xfrm>
          <a:prstGeom prst="rect">
            <a:avLst/>
          </a:prstGeom>
        </p:spPr>
        <p:txBody>
          <a:bodyPr wrap="square">
            <a:spAutoFit/>
          </a:bodyPr>
          <a:lstStyle/>
          <a:p>
            <a:r>
              <a:rPr lang="en-US" sz="2400" dirty="0">
                <a:sym typeface="Wingdings" panose="05000000000000000000" pitchFamily="2" charset="2"/>
              </a:rPr>
              <a:t> </a:t>
            </a:r>
            <a:r>
              <a:rPr lang="en-US" sz="2400" dirty="0"/>
              <a:t>Program contains arrays &amp; conditional statements to         check both KVL &amp; KCL.</a:t>
            </a:r>
          </a:p>
          <a:p>
            <a:r>
              <a:rPr lang="en-US" sz="2400" dirty="0">
                <a:sym typeface="Wingdings" panose="05000000000000000000" pitchFamily="2" charset="2"/>
              </a:rPr>
              <a:t> </a:t>
            </a:r>
            <a:r>
              <a:rPr lang="en-US" sz="2400" dirty="0"/>
              <a:t>Main integrates modules and prints final verification</a:t>
            </a:r>
            <a:endParaRPr lang="en-IN" sz="2400" dirty="0"/>
          </a:p>
        </p:txBody>
      </p:sp>
    </p:spTree>
    <p:extLst>
      <p:ext uri="{BB962C8B-B14F-4D97-AF65-F5344CB8AC3E}">
        <p14:creationId xmlns:p14="http://schemas.microsoft.com/office/powerpoint/2010/main" val="2981858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DFF0E12-38ED-40AB-B314-13C4C7350164}"/>
              </a:ext>
            </a:extLst>
          </p:cNvPr>
          <p:cNvSpPr>
            <a:spLocks noChangeArrowheads="1"/>
          </p:cNvSpPr>
          <p:nvPr/>
        </p:nvSpPr>
        <p:spPr bwMode="auto">
          <a:xfrm>
            <a:off x="946951" y="-29420"/>
            <a:ext cx="6386004" cy="6771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4000" b="1" i="0" u="none" strike="noStrike" cap="none" normalizeH="0" baseline="0" dirty="0">
                <a:ln>
                  <a:noFill/>
                </a:ln>
                <a:solidFill>
                  <a:schemeClr val="accent1"/>
                </a:solidFill>
                <a:effectLst/>
                <a:latin typeface="Arial" panose="020B0604020202020204" pitchFamily="34" charset="0"/>
              </a:rPr>
              <a:t>Module-wise Program</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lvl="0" defTabSz="914400" eaLnBrk="0" fontAlgn="base" hangingPunct="0">
              <a:spcBef>
                <a:spcPct val="0"/>
              </a:spcBef>
              <a:spcAft>
                <a:spcPct val="0"/>
              </a:spcAft>
            </a:pPr>
            <a:r>
              <a:rPr lang="nn-NO" altLang="en-US" dirty="0">
                <a:latin typeface="Arial Unicode MS" panose="020B0604020202020204" pitchFamily="34" charset="-128"/>
              </a:rPr>
              <a:t>void inputArray(float a[], int n) {</a:t>
            </a:r>
          </a:p>
          <a:p>
            <a:pPr lvl="0" defTabSz="914400" eaLnBrk="0" fontAlgn="base" hangingPunct="0">
              <a:spcBef>
                <a:spcPct val="0"/>
              </a:spcBef>
              <a:spcAft>
                <a:spcPct val="0"/>
              </a:spcAft>
            </a:pPr>
            <a:r>
              <a:rPr lang="nn-NO" altLang="en-US" dirty="0">
                <a:latin typeface="Arial Unicode MS" panose="020B0604020202020204" pitchFamily="34" charset="-128"/>
              </a:rPr>
              <a:t>    for(int i = 0; i &lt; n; i++)</a:t>
            </a:r>
          </a:p>
          <a:p>
            <a:pPr lvl="0" defTabSz="914400" eaLnBrk="0" fontAlgn="base" hangingPunct="0">
              <a:spcBef>
                <a:spcPct val="0"/>
              </a:spcBef>
              <a:spcAft>
                <a:spcPct val="0"/>
              </a:spcAft>
            </a:pPr>
            <a:r>
              <a:rPr lang="nn-NO" altLang="en-US" dirty="0">
                <a:latin typeface="Arial Unicode MS" panose="020B0604020202020204" pitchFamily="34" charset="-128"/>
              </a:rPr>
              <a:t>        scanf("%f", &amp;a[i]);</a:t>
            </a:r>
          </a:p>
          <a:p>
            <a:pPr lvl="0" defTabSz="914400" eaLnBrk="0" fontAlgn="base" hangingPunct="0">
              <a:spcBef>
                <a:spcPct val="0"/>
              </a:spcBef>
              <a:spcAft>
                <a:spcPct val="0"/>
              </a:spcAft>
            </a:pPr>
            <a:r>
              <a:rPr lang="nn-NO" altLang="en-US" dirty="0">
                <a:latin typeface="Arial Unicode MS" panose="020B0604020202020204" pitchFamily="34" charset="-128"/>
              </a:rPr>
              <a:t>}</a:t>
            </a:r>
          </a:p>
          <a:p>
            <a:pPr lvl="0" defTabSz="914400" eaLnBrk="0" fontAlgn="base" hangingPunct="0">
              <a:spcBef>
                <a:spcPct val="0"/>
              </a:spcBef>
              <a:spcAft>
                <a:spcPct val="0"/>
              </a:spcAft>
            </a:pPr>
            <a:endParaRPr lang="nn-NO" altLang="en-US" dirty="0">
              <a:latin typeface="Arial Unicode MS" panose="020B0604020202020204" pitchFamily="34" charset="-128"/>
            </a:endParaRPr>
          </a:p>
          <a:p>
            <a:pPr lvl="0" defTabSz="914400" eaLnBrk="0" fontAlgn="base" hangingPunct="0">
              <a:spcBef>
                <a:spcPct val="0"/>
              </a:spcBef>
              <a:spcAft>
                <a:spcPct val="0"/>
              </a:spcAft>
            </a:pPr>
            <a:r>
              <a:rPr lang="nn-NO" altLang="en-US" dirty="0">
                <a:latin typeface="Arial Unicode MS" panose="020B0604020202020204" pitchFamily="34" charset="-128"/>
              </a:rPr>
              <a:t>int verifyKVL(float v[], int n) {</a:t>
            </a:r>
          </a:p>
          <a:p>
            <a:pPr lvl="0" defTabSz="914400" eaLnBrk="0" fontAlgn="base" hangingPunct="0">
              <a:spcBef>
                <a:spcPct val="0"/>
              </a:spcBef>
              <a:spcAft>
                <a:spcPct val="0"/>
              </a:spcAft>
            </a:pPr>
            <a:r>
              <a:rPr lang="nn-NO" altLang="en-US" dirty="0">
                <a:latin typeface="Arial Unicode MS" panose="020B0604020202020204" pitchFamily="34" charset="-128"/>
              </a:rPr>
              <a:t>    float sum = 0;</a:t>
            </a:r>
          </a:p>
          <a:p>
            <a:pPr lvl="0" defTabSz="914400" eaLnBrk="0" fontAlgn="base" hangingPunct="0">
              <a:spcBef>
                <a:spcPct val="0"/>
              </a:spcBef>
              <a:spcAft>
                <a:spcPct val="0"/>
              </a:spcAft>
            </a:pPr>
            <a:r>
              <a:rPr lang="nn-NO" altLang="en-US" dirty="0">
                <a:latin typeface="Arial Unicode MS" panose="020B0604020202020204" pitchFamily="34" charset="-128"/>
              </a:rPr>
              <a:t>    for(int i = 0; i &lt; n; i++)</a:t>
            </a:r>
          </a:p>
          <a:p>
            <a:pPr lvl="0" defTabSz="914400" eaLnBrk="0" fontAlgn="base" hangingPunct="0">
              <a:spcBef>
                <a:spcPct val="0"/>
              </a:spcBef>
              <a:spcAft>
                <a:spcPct val="0"/>
              </a:spcAft>
            </a:pPr>
            <a:r>
              <a:rPr lang="nn-NO" altLang="en-US" dirty="0">
                <a:latin typeface="Arial Unicode MS" panose="020B0604020202020204" pitchFamily="34" charset="-128"/>
              </a:rPr>
              <a:t>        sum += v[i];</a:t>
            </a:r>
          </a:p>
          <a:p>
            <a:pPr lvl="0" defTabSz="914400" eaLnBrk="0" fontAlgn="base" hangingPunct="0">
              <a:spcBef>
                <a:spcPct val="0"/>
              </a:spcBef>
              <a:spcAft>
                <a:spcPct val="0"/>
              </a:spcAft>
            </a:pPr>
            <a:r>
              <a:rPr lang="nn-NO" altLang="en-US" dirty="0">
                <a:latin typeface="Arial Unicode MS" panose="020B0604020202020204" pitchFamily="34" charset="-128"/>
              </a:rPr>
              <a:t>    return (sum == 0);</a:t>
            </a:r>
          </a:p>
          <a:p>
            <a:pPr lvl="0" defTabSz="914400" eaLnBrk="0" fontAlgn="base" hangingPunct="0">
              <a:spcBef>
                <a:spcPct val="0"/>
              </a:spcBef>
              <a:spcAft>
                <a:spcPct val="0"/>
              </a:spcAft>
            </a:pPr>
            <a:r>
              <a:rPr lang="nn-NO" altLang="en-US" dirty="0">
                <a:latin typeface="Arial Unicode MS" panose="020B0604020202020204" pitchFamily="34" charset="-128"/>
              </a:rPr>
              <a:t>}</a:t>
            </a:r>
          </a:p>
          <a:p>
            <a:pPr lvl="0" defTabSz="914400" eaLnBrk="0" fontAlgn="base" hangingPunct="0">
              <a:spcBef>
                <a:spcPct val="0"/>
              </a:spcBef>
              <a:spcAft>
                <a:spcPct val="0"/>
              </a:spcAft>
            </a:pPr>
            <a:endParaRPr lang="nn-NO" altLang="en-US" dirty="0">
              <a:latin typeface="Arial Unicode MS" panose="020B0604020202020204" pitchFamily="34" charset="-128"/>
            </a:endParaRPr>
          </a:p>
          <a:p>
            <a:pPr lvl="0" defTabSz="914400" eaLnBrk="0" fontAlgn="base" hangingPunct="0">
              <a:spcBef>
                <a:spcPct val="0"/>
              </a:spcBef>
              <a:spcAft>
                <a:spcPct val="0"/>
              </a:spcAft>
            </a:pPr>
            <a:r>
              <a:rPr lang="en-US" altLang="en-US" dirty="0">
                <a:latin typeface="Arial Unicode MS" panose="020B0604020202020204" pitchFamily="34" charset="-128"/>
              </a:rPr>
              <a:t>int </a:t>
            </a:r>
            <a:r>
              <a:rPr lang="en-US" altLang="en-US" dirty="0" err="1">
                <a:latin typeface="Arial Unicode MS" panose="020B0604020202020204" pitchFamily="34" charset="-128"/>
              </a:rPr>
              <a:t>verifyKCL</a:t>
            </a:r>
            <a:r>
              <a:rPr lang="en-US" altLang="en-US" dirty="0">
                <a:latin typeface="Arial Unicode MS" panose="020B0604020202020204" pitchFamily="34" charset="-128"/>
              </a:rPr>
              <a:t>(float in[], float out[], int n1, int n2) {</a:t>
            </a:r>
          </a:p>
          <a:p>
            <a:pPr lvl="0" defTabSz="914400" eaLnBrk="0" fontAlgn="base" hangingPunct="0">
              <a:spcBef>
                <a:spcPct val="0"/>
              </a:spcBef>
              <a:spcAft>
                <a:spcPct val="0"/>
              </a:spcAft>
            </a:pPr>
            <a:r>
              <a:rPr lang="en-US" altLang="en-US" dirty="0">
                <a:latin typeface="Arial Unicode MS" panose="020B0604020202020204" pitchFamily="34" charset="-128"/>
              </a:rPr>
              <a:t>    float sin = 0, </a:t>
            </a:r>
            <a:r>
              <a:rPr lang="en-US" altLang="en-US" dirty="0" err="1">
                <a:latin typeface="Arial Unicode MS" panose="020B0604020202020204" pitchFamily="34" charset="-128"/>
              </a:rPr>
              <a:t>sout</a:t>
            </a:r>
            <a:r>
              <a:rPr lang="en-US" altLang="en-US" dirty="0">
                <a:latin typeface="Arial Unicode MS" panose="020B0604020202020204" pitchFamily="34" charset="-128"/>
              </a:rPr>
              <a:t> = 0;</a:t>
            </a:r>
          </a:p>
          <a:p>
            <a:pPr lvl="0" defTabSz="914400" eaLnBrk="0" fontAlgn="base" hangingPunct="0">
              <a:spcBef>
                <a:spcPct val="0"/>
              </a:spcBef>
              <a:spcAft>
                <a:spcPct val="0"/>
              </a:spcAft>
            </a:pPr>
            <a:r>
              <a:rPr lang="en-US" altLang="en-US" dirty="0">
                <a:latin typeface="Arial Unicode MS" panose="020B0604020202020204" pitchFamily="34" charset="-128"/>
              </a:rPr>
              <a:t>    for(int </a:t>
            </a:r>
            <a:r>
              <a:rPr lang="en-US" altLang="en-US" dirty="0" err="1">
                <a:latin typeface="Arial Unicode MS" panose="020B0604020202020204" pitchFamily="34" charset="-128"/>
              </a:rPr>
              <a:t>i</a:t>
            </a:r>
            <a:r>
              <a:rPr lang="en-US" altLang="en-US" dirty="0">
                <a:latin typeface="Arial Unicode MS" panose="020B0604020202020204" pitchFamily="34" charset="-128"/>
              </a:rPr>
              <a:t> = 0; </a:t>
            </a:r>
            <a:r>
              <a:rPr lang="en-US" altLang="en-US" dirty="0" err="1">
                <a:latin typeface="Arial Unicode MS" panose="020B0604020202020204" pitchFamily="34" charset="-128"/>
              </a:rPr>
              <a:t>i</a:t>
            </a:r>
            <a:r>
              <a:rPr lang="en-US" altLang="en-US" dirty="0">
                <a:latin typeface="Arial Unicode MS" panose="020B0604020202020204" pitchFamily="34" charset="-128"/>
              </a:rPr>
              <a:t> &lt; n1; </a:t>
            </a:r>
            <a:r>
              <a:rPr lang="en-US" altLang="en-US" dirty="0" err="1">
                <a:latin typeface="Arial Unicode MS" panose="020B0604020202020204" pitchFamily="34" charset="-128"/>
              </a:rPr>
              <a:t>i</a:t>
            </a:r>
            <a:r>
              <a:rPr lang="en-US" altLang="en-US" dirty="0">
                <a:latin typeface="Arial Unicode MS" panose="020B0604020202020204" pitchFamily="34" charset="-128"/>
              </a:rPr>
              <a:t>++) sin += in[</a:t>
            </a:r>
            <a:r>
              <a:rPr lang="en-US" altLang="en-US" dirty="0" err="1">
                <a:latin typeface="Arial Unicode MS" panose="020B0604020202020204" pitchFamily="34" charset="-128"/>
              </a:rPr>
              <a:t>i</a:t>
            </a:r>
            <a:r>
              <a:rPr lang="en-US" altLang="en-US" dirty="0">
                <a:latin typeface="Arial Unicode MS" panose="020B0604020202020204" pitchFamily="34" charset="-128"/>
              </a:rPr>
              <a:t>];</a:t>
            </a:r>
          </a:p>
          <a:p>
            <a:pPr lvl="0" defTabSz="914400" eaLnBrk="0" fontAlgn="base" hangingPunct="0">
              <a:spcBef>
                <a:spcPct val="0"/>
              </a:spcBef>
              <a:spcAft>
                <a:spcPct val="0"/>
              </a:spcAft>
            </a:pPr>
            <a:r>
              <a:rPr lang="en-US" altLang="en-US" dirty="0">
                <a:latin typeface="Arial Unicode MS" panose="020B0604020202020204" pitchFamily="34" charset="-128"/>
              </a:rPr>
              <a:t>    for(int </a:t>
            </a:r>
            <a:r>
              <a:rPr lang="en-US" altLang="en-US" dirty="0" err="1">
                <a:latin typeface="Arial Unicode MS" panose="020B0604020202020204" pitchFamily="34" charset="-128"/>
              </a:rPr>
              <a:t>i</a:t>
            </a:r>
            <a:r>
              <a:rPr lang="en-US" altLang="en-US" dirty="0">
                <a:latin typeface="Arial Unicode MS" panose="020B0604020202020204" pitchFamily="34" charset="-128"/>
              </a:rPr>
              <a:t> = 0; </a:t>
            </a:r>
            <a:r>
              <a:rPr lang="en-US" altLang="en-US" dirty="0" err="1">
                <a:latin typeface="Arial Unicode MS" panose="020B0604020202020204" pitchFamily="34" charset="-128"/>
              </a:rPr>
              <a:t>i</a:t>
            </a:r>
            <a:r>
              <a:rPr lang="en-US" altLang="en-US" dirty="0">
                <a:latin typeface="Arial Unicode MS" panose="020B0604020202020204" pitchFamily="34" charset="-128"/>
              </a:rPr>
              <a:t> &lt; n2; </a:t>
            </a:r>
            <a:r>
              <a:rPr lang="en-US" altLang="en-US" dirty="0" err="1">
                <a:latin typeface="Arial Unicode MS" panose="020B0604020202020204" pitchFamily="34" charset="-128"/>
              </a:rPr>
              <a:t>i</a:t>
            </a:r>
            <a:r>
              <a:rPr lang="en-US" altLang="en-US" dirty="0">
                <a:latin typeface="Arial Unicode MS" panose="020B0604020202020204" pitchFamily="34" charset="-128"/>
              </a:rPr>
              <a:t>++) </a:t>
            </a:r>
            <a:r>
              <a:rPr lang="en-US" altLang="en-US" dirty="0" err="1">
                <a:latin typeface="Arial Unicode MS" panose="020B0604020202020204" pitchFamily="34" charset="-128"/>
              </a:rPr>
              <a:t>sout</a:t>
            </a:r>
            <a:r>
              <a:rPr lang="en-US" altLang="en-US" dirty="0">
                <a:latin typeface="Arial Unicode MS" panose="020B0604020202020204" pitchFamily="34" charset="-128"/>
              </a:rPr>
              <a:t> += out[</a:t>
            </a:r>
            <a:r>
              <a:rPr lang="en-US" altLang="en-US" dirty="0" err="1">
                <a:latin typeface="Arial Unicode MS" panose="020B0604020202020204" pitchFamily="34" charset="-128"/>
              </a:rPr>
              <a:t>i</a:t>
            </a:r>
            <a:r>
              <a:rPr lang="en-US" altLang="en-US" dirty="0">
                <a:latin typeface="Arial Unicode MS" panose="020B0604020202020204" pitchFamily="34" charset="-128"/>
              </a:rPr>
              <a:t>];</a:t>
            </a:r>
          </a:p>
          <a:p>
            <a:pPr lvl="0" defTabSz="914400" eaLnBrk="0" fontAlgn="base" hangingPunct="0">
              <a:spcBef>
                <a:spcPct val="0"/>
              </a:spcBef>
              <a:spcAft>
                <a:spcPct val="0"/>
              </a:spcAft>
            </a:pPr>
            <a:r>
              <a:rPr lang="en-US" altLang="en-US" dirty="0">
                <a:latin typeface="Arial Unicode MS" panose="020B0604020202020204" pitchFamily="34" charset="-128"/>
              </a:rPr>
              <a:t>    return (sin == </a:t>
            </a:r>
            <a:r>
              <a:rPr lang="en-US" altLang="en-US" dirty="0" err="1">
                <a:latin typeface="Arial Unicode MS" panose="020B0604020202020204" pitchFamily="34" charset="-128"/>
              </a:rPr>
              <a:t>sout</a:t>
            </a:r>
            <a:r>
              <a:rPr lang="en-US" altLang="en-US" dirty="0">
                <a:latin typeface="Arial Unicode MS" panose="020B0604020202020204" pitchFamily="34" charset="-128"/>
              </a:rPr>
              <a:t>);</a:t>
            </a:r>
          </a:p>
          <a:p>
            <a:pPr lvl="0" defTabSz="914400" eaLnBrk="0" fontAlgn="base" hangingPunct="0">
              <a:spcBef>
                <a:spcPct val="0"/>
              </a:spcBef>
              <a:spcAft>
                <a:spcPct val="0"/>
              </a:spcAft>
            </a:pPr>
            <a:r>
              <a:rPr lang="en-US" altLang="en-US" dirty="0">
                <a:latin typeface="Arial Unicode MS" panose="020B0604020202020204" pitchFamily="34" charset="-128"/>
              </a:rPr>
              <a:t>}</a:t>
            </a:r>
          </a:p>
          <a:p>
            <a:pPr marL="0" marR="0" lvl="0" indent="0" algn="l" defTabSz="914400" rtl="0" eaLnBrk="0" fontAlgn="base" latinLnBrk="0" hangingPunct="0">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Unicode MS" panose="020B0604020202020204" pitchFamily="34" charset="-128"/>
            </a:endParaRPr>
          </a:p>
        </p:txBody>
      </p:sp>
      <p:pic>
        <p:nvPicPr>
          <p:cNvPr id="4" name="Picture 3">
            <a:extLst>
              <a:ext uri="{FF2B5EF4-FFF2-40B4-BE49-F238E27FC236}">
                <a16:creationId xmlns:a16="http://schemas.microsoft.com/office/drawing/2014/main" id="{B0B37E85-90A8-4EF4-A945-27D440F5B1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1809" y="1731145"/>
            <a:ext cx="3462291" cy="2332608"/>
          </a:xfrm>
          <a:prstGeom prst="rect">
            <a:avLst/>
          </a:prstGeom>
        </p:spPr>
      </p:pic>
    </p:spTree>
    <p:extLst>
      <p:ext uri="{BB962C8B-B14F-4D97-AF65-F5344CB8AC3E}">
        <p14:creationId xmlns:p14="http://schemas.microsoft.com/office/powerpoint/2010/main" val="954412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385D1F-B554-492B-93DA-D7CB3A2D4CDA}"/>
              </a:ext>
            </a:extLst>
          </p:cNvPr>
          <p:cNvSpPr/>
          <p:nvPr/>
        </p:nvSpPr>
        <p:spPr>
          <a:xfrm>
            <a:off x="594804" y="589794"/>
            <a:ext cx="8824404" cy="5442965"/>
          </a:xfrm>
          <a:prstGeom prst="rect">
            <a:avLst/>
          </a:prstGeom>
        </p:spPr>
        <p:txBody>
          <a:bodyPr wrap="square">
            <a:spAutoFit/>
          </a:bodyPr>
          <a:lstStyle/>
          <a:p>
            <a:pPr>
              <a:lnSpc>
                <a:spcPct val="150000"/>
              </a:lnSpc>
            </a:pPr>
            <a:r>
              <a:rPr lang="en-US" dirty="0"/>
              <a:t>Each module is executed individually to verify that it performs its assigned task correctly. The input module reads the circuit values, the KVL module calculates the algebraic sum of voltages, the KCL module calculates the algebraic sum of currents, and the output module displays the results to the user.</a:t>
            </a:r>
          </a:p>
          <a:p>
            <a:pPr>
              <a:lnSpc>
                <a:spcPct val="150000"/>
              </a:lnSpc>
            </a:pPr>
            <a:br>
              <a:rPr lang="en-US" dirty="0"/>
            </a:br>
            <a:r>
              <a:rPr lang="en-US" dirty="0"/>
              <a:t>Once every module produces the expected output, they must be linked together in the final program. The flow of data between modules is planned so that intermediate results are correctly transferred without loss. During this integration process, errors such as mismatched data types, missing inputs, and logical inconsistencies are also resolved.</a:t>
            </a:r>
          </a:p>
          <a:p>
            <a:pPr>
              <a:lnSpc>
                <a:spcPct val="150000"/>
              </a:lnSpc>
            </a:pPr>
            <a:br>
              <a:rPr lang="en-US" dirty="0"/>
            </a:br>
            <a:r>
              <a:rPr lang="en-US" dirty="0"/>
              <a:t>When all modules work together smoothly from input to final result, the program is said to have successfully completed </a:t>
            </a:r>
            <a:r>
              <a:rPr lang="en-US" b="1" dirty="0"/>
              <a:t>module integration</a:t>
            </a:r>
            <a:r>
              <a:rPr lang="en-US" dirty="0"/>
              <a:t>.</a:t>
            </a:r>
            <a:endParaRPr lang="en-IN" dirty="0"/>
          </a:p>
        </p:txBody>
      </p:sp>
    </p:spTree>
    <p:extLst>
      <p:ext uri="{BB962C8B-B14F-4D97-AF65-F5344CB8AC3E}">
        <p14:creationId xmlns:p14="http://schemas.microsoft.com/office/powerpoint/2010/main" val="1950393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44BEE6-F9E5-464D-AA0D-B58DD2274275}"/>
              </a:ext>
            </a:extLst>
          </p:cNvPr>
          <p:cNvSpPr/>
          <p:nvPr/>
        </p:nvSpPr>
        <p:spPr>
          <a:xfrm>
            <a:off x="1216241" y="1138106"/>
            <a:ext cx="8327253" cy="6093976"/>
          </a:xfrm>
          <a:prstGeom prst="rect">
            <a:avLst/>
          </a:prstGeom>
        </p:spPr>
        <p:txBody>
          <a:bodyPr wrap="square">
            <a:spAutoFit/>
          </a:bodyPr>
          <a:lstStyle/>
          <a:p>
            <a:r>
              <a:rPr lang="en-IN" dirty="0"/>
              <a:t>#include &lt;</a:t>
            </a:r>
            <a:r>
              <a:rPr lang="en-IN" dirty="0" err="1"/>
              <a:t>stdio.h</a:t>
            </a:r>
            <a:r>
              <a:rPr lang="en-IN" dirty="0"/>
              <a:t>&gt;</a:t>
            </a:r>
          </a:p>
          <a:p>
            <a:endParaRPr lang="en-IN" dirty="0"/>
          </a:p>
          <a:p>
            <a:r>
              <a:rPr lang="en-IN" dirty="0"/>
              <a:t>void </a:t>
            </a:r>
            <a:r>
              <a:rPr lang="en-IN" dirty="0" err="1"/>
              <a:t>inputArray</a:t>
            </a:r>
            <a:r>
              <a:rPr lang="en-IN" dirty="0"/>
              <a:t>(float a[], int n) {</a:t>
            </a:r>
          </a:p>
          <a:p>
            <a:r>
              <a:rPr lang="en-IN" dirty="0"/>
              <a:t>    for(int </a:t>
            </a:r>
            <a:r>
              <a:rPr lang="en-IN" dirty="0" err="1"/>
              <a:t>i</a:t>
            </a:r>
            <a:r>
              <a:rPr lang="en-IN" dirty="0"/>
              <a:t> = 0; </a:t>
            </a:r>
            <a:r>
              <a:rPr lang="en-IN" dirty="0" err="1"/>
              <a:t>i</a:t>
            </a:r>
            <a:r>
              <a:rPr lang="en-IN" dirty="0"/>
              <a:t> &lt; n; </a:t>
            </a:r>
            <a:r>
              <a:rPr lang="en-IN" dirty="0" err="1"/>
              <a:t>i</a:t>
            </a:r>
            <a:r>
              <a:rPr lang="en-IN" dirty="0"/>
              <a:t>++)</a:t>
            </a:r>
          </a:p>
          <a:p>
            <a:r>
              <a:rPr lang="en-IN" dirty="0"/>
              <a:t>        </a:t>
            </a:r>
            <a:r>
              <a:rPr lang="en-IN" dirty="0" err="1"/>
              <a:t>scanf</a:t>
            </a:r>
            <a:r>
              <a:rPr lang="en-IN" dirty="0"/>
              <a:t>("%f", &amp;a[</a:t>
            </a:r>
            <a:r>
              <a:rPr lang="en-IN" dirty="0" err="1"/>
              <a:t>i</a:t>
            </a:r>
            <a:r>
              <a:rPr lang="en-IN" dirty="0"/>
              <a:t>]);</a:t>
            </a:r>
          </a:p>
          <a:p>
            <a:r>
              <a:rPr lang="en-IN" dirty="0"/>
              <a:t>}</a:t>
            </a:r>
          </a:p>
          <a:p>
            <a:endParaRPr lang="en-IN" dirty="0"/>
          </a:p>
          <a:p>
            <a:r>
              <a:rPr lang="en-IN" dirty="0"/>
              <a:t>int </a:t>
            </a:r>
            <a:r>
              <a:rPr lang="en-IN" dirty="0" err="1"/>
              <a:t>verifyKVL</a:t>
            </a:r>
            <a:r>
              <a:rPr lang="en-IN" dirty="0"/>
              <a:t>(float v[], int n) {</a:t>
            </a:r>
          </a:p>
          <a:p>
            <a:r>
              <a:rPr lang="en-IN" dirty="0"/>
              <a:t>    float sum = 0;</a:t>
            </a:r>
          </a:p>
          <a:p>
            <a:r>
              <a:rPr lang="en-IN" dirty="0"/>
              <a:t>    for(int </a:t>
            </a:r>
            <a:r>
              <a:rPr lang="en-IN" dirty="0" err="1"/>
              <a:t>i</a:t>
            </a:r>
            <a:r>
              <a:rPr lang="en-IN" dirty="0"/>
              <a:t> = 0; </a:t>
            </a:r>
            <a:r>
              <a:rPr lang="en-IN" dirty="0" err="1"/>
              <a:t>i</a:t>
            </a:r>
            <a:r>
              <a:rPr lang="en-IN" dirty="0"/>
              <a:t> &lt; n; </a:t>
            </a:r>
            <a:r>
              <a:rPr lang="en-IN" dirty="0" err="1"/>
              <a:t>i</a:t>
            </a:r>
            <a:r>
              <a:rPr lang="en-IN" dirty="0"/>
              <a:t>++)</a:t>
            </a:r>
          </a:p>
          <a:p>
            <a:r>
              <a:rPr lang="en-IN" dirty="0"/>
              <a:t>        sum += v[</a:t>
            </a:r>
            <a:r>
              <a:rPr lang="en-IN" dirty="0" err="1"/>
              <a:t>i</a:t>
            </a:r>
            <a:r>
              <a:rPr lang="en-IN" dirty="0"/>
              <a:t>];</a:t>
            </a:r>
          </a:p>
          <a:p>
            <a:r>
              <a:rPr lang="en-IN" dirty="0"/>
              <a:t>    return (sum == 0);</a:t>
            </a:r>
          </a:p>
          <a:p>
            <a:r>
              <a:rPr lang="en-IN" dirty="0"/>
              <a:t>}</a:t>
            </a:r>
          </a:p>
          <a:p>
            <a:endParaRPr lang="en-IN" dirty="0"/>
          </a:p>
          <a:p>
            <a:r>
              <a:rPr lang="en-IN" dirty="0"/>
              <a:t>int </a:t>
            </a:r>
            <a:r>
              <a:rPr lang="en-IN" dirty="0" err="1"/>
              <a:t>verifyKCL</a:t>
            </a:r>
            <a:r>
              <a:rPr lang="en-IN" dirty="0"/>
              <a:t>(float in[], float out[], int n1, int n2) {</a:t>
            </a:r>
          </a:p>
          <a:p>
            <a:r>
              <a:rPr lang="en-IN" dirty="0"/>
              <a:t>    float sin = 0, </a:t>
            </a:r>
            <a:r>
              <a:rPr lang="en-IN" dirty="0" err="1"/>
              <a:t>sout</a:t>
            </a:r>
            <a:r>
              <a:rPr lang="en-IN" dirty="0"/>
              <a:t> = 0;</a:t>
            </a:r>
          </a:p>
          <a:p>
            <a:r>
              <a:rPr lang="en-IN" dirty="0"/>
              <a:t>    for(int </a:t>
            </a:r>
            <a:r>
              <a:rPr lang="en-IN" dirty="0" err="1"/>
              <a:t>i</a:t>
            </a:r>
            <a:r>
              <a:rPr lang="en-IN" dirty="0"/>
              <a:t> = 0; </a:t>
            </a:r>
            <a:r>
              <a:rPr lang="en-IN" dirty="0" err="1"/>
              <a:t>i</a:t>
            </a:r>
            <a:r>
              <a:rPr lang="en-IN" dirty="0"/>
              <a:t> &lt; n1; </a:t>
            </a:r>
            <a:r>
              <a:rPr lang="en-IN" dirty="0" err="1"/>
              <a:t>i</a:t>
            </a:r>
            <a:r>
              <a:rPr lang="en-IN" dirty="0"/>
              <a:t>++) sin += in[</a:t>
            </a:r>
            <a:r>
              <a:rPr lang="en-IN" dirty="0" err="1"/>
              <a:t>i</a:t>
            </a:r>
            <a:r>
              <a:rPr lang="en-IN" dirty="0"/>
              <a:t>];</a:t>
            </a:r>
          </a:p>
          <a:p>
            <a:r>
              <a:rPr lang="en-IN" dirty="0"/>
              <a:t>    for(int </a:t>
            </a:r>
            <a:r>
              <a:rPr lang="en-IN" dirty="0" err="1"/>
              <a:t>i</a:t>
            </a:r>
            <a:r>
              <a:rPr lang="en-IN" dirty="0"/>
              <a:t> = 0; </a:t>
            </a:r>
            <a:r>
              <a:rPr lang="en-IN" dirty="0" err="1"/>
              <a:t>i</a:t>
            </a:r>
            <a:r>
              <a:rPr lang="en-IN" dirty="0"/>
              <a:t> &lt; n2; </a:t>
            </a:r>
            <a:r>
              <a:rPr lang="en-IN" dirty="0" err="1"/>
              <a:t>i</a:t>
            </a:r>
            <a:r>
              <a:rPr lang="en-IN" dirty="0"/>
              <a:t>++) </a:t>
            </a:r>
            <a:r>
              <a:rPr lang="en-IN" dirty="0" err="1"/>
              <a:t>sout</a:t>
            </a:r>
            <a:r>
              <a:rPr lang="en-IN" dirty="0"/>
              <a:t> += out[</a:t>
            </a:r>
            <a:r>
              <a:rPr lang="en-IN" dirty="0" err="1"/>
              <a:t>i</a:t>
            </a:r>
            <a:r>
              <a:rPr lang="en-IN" dirty="0"/>
              <a:t>];</a:t>
            </a:r>
          </a:p>
          <a:p>
            <a:r>
              <a:rPr lang="en-IN" dirty="0"/>
              <a:t>    return (sin == </a:t>
            </a:r>
            <a:r>
              <a:rPr lang="en-IN" dirty="0" err="1"/>
              <a:t>sout</a:t>
            </a:r>
            <a:r>
              <a:rPr lang="en-IN" dirty="0"/>
              <a:t>);</a:t>
            </a:r>
          </a:p>
          <a:p>
            <a:r>
              <a:rPr lang="en-IN" dirty="0"/>
              <a:t>}</a:t>
            </a:r>
          </a:p>
          <a:p>
            <a:endParaRPr lang="en-IN" dirty="0"/>
          </a:p>
          <a:p>
            <a:endParaRPr lang="en-IN" sz="1200" dirty="0"/>
          </a:p>
        </p:txBody>
      </p:sp>
      <p:sp>
        <p:nvSpPr>
          <p:cNvPr id="5" name="Rectangle 3">
            <a:extLst>
              <a:ext uri="{FF2B5EF4-FFF2-40B4-BE49-F238E27FC236}">
                <a16:creationId xmlns:a16="http://schemas.microsoft.com/office/drawing/2014/main" id="{6CF02698-AEDF-4726-8B91-D798FB3637D1}"/>
              </a:ext>
            </a:extLst>
          </p:cNvPr>
          <p:cNvSpPr>
            <a:spLocks noChangeArrowheads="1"/>
          </p:cNvSpPr>
          <p:nvPr/>
        </p:nvSpPr>
        <p:spPr bwMode="auto">
          <a:xfrm>
            <a:off x="674703" y="153221"/>
            <a:ext cx="11064536"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chemeClr val="accent1"/>
                </a:solidFill>
                <a:effectLst/>
                <a:latin typeface="Arial" panose="020B0604020202020204" pitchFamily="34" charset="0"/>
              </a:rPr>
              <a:t>Modules Integration (Full Program)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AB2045AA-E5A8-4AE8-9840-2E65252E0B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7939" y="1961964"/>
            <a:ext cx="2597139" cy="1908699"/>
          </a:xfrm>
          <a:prstGeom prst="rect">
            <a:avLst/>
          </a:prstGeom>
        </p:spPr>
      </p:pic>
    </p:spTree>
    <p:extLst>
      <p:ext uri="{BB962C8B-B14F-4D97-AF65-F5344CB8AC3E}">
        <p14:creationId xmlns:p14="http://schemas.microsoft.com/office/powerpoint/2010/main" val="1076694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0F8AB6-F7E8-4165-9713-96D4F11AE8A2}"/>
              </a:ext>
            </a:extLst>
          </p:cNvPr>
          <p:cNvSpPr/>
          <p:nvPr/>
        </p:nvSpPr>
        <p:spPr>
          <a:xfrm>
            <a:off x="1012055" y="259529"/>
            <a:ext cx="6241002" cy="6463308"/>
          </a:xfrm>
          <a:prstGeom prst="rect">
            <a:avLst/>
          </a:prstGeom>
        </p:spPr>
        <p:txBody>
          <a:bodyPr wrap="square">
            <a:spAutoFit/>
          </a:bodyPr>
          <a:lstStyle/>
          <a:p>
            <a:r>
              <a:rPr lang="en-IN" dirty="0"/>
              <a:t>int main() {</a:t>
            </a:r>
          </a:p>
          <a:p>
            <a:r>
              <a:rPr lang="en-IN" dirty="0"/>
              <a:t>    int choice, n, n1, n2;</a:t>
            </a:r>
          </a:p>
          <a:p>
            <a:r>
              <a:rPr lang="en-IN" dirty="0"/>
              <a:t>    float </a:t>
            </a:r>
            <a:r>
              <a:rPr lang="en-IN" dirty="0" err="1"/>
              <a:t>arr</a:t>
            </a:r>
            <a:r>
              <a:rPr lang="en-IN" dirty="0"/>
              <a:t>[10], in[10], out[10];</a:t>
            </a:r>
          </a:p>
          <a:p>
            <a:endParaRPr lang="en-IN" dirty="0"/>
          </a:p>
          <a:p>
            <a:r>
              <a:rPr lang="en-IN" dirty="0"/>
              <a:t>    </a:t>
            </a:r>
            <a:r>
              <a:rPr lang="en-IN" dirty="0" err="1"/>
              <a:t>printf</a:t>
            </a:r>
            <a:r>
              <a:rPr lang="en-IN" dirty="0"/>
              <a:t>("1. Verify KVL\n2. Verify KCL\</a:t>
            </a:r>
            <a:r>
              <a:rPr lang="en-IN" dirty="0" err="1"/>
              <a:t>nEnter</a:t>
            </a:r>
            <a:r>
              <a:rPr lang="en-IN" dirty="0"/>
              <a:t> choice:");</a:t>
            </a:r>
          </a:p>
          <a:p>
            <a:r>
              <a:rPr lang="en-IN" dirty="0"/>
              <a:t>    </a:t>
            </a:r>
            <a:r>
              <a:rPr lang="en-IN" dirty="0" err="1"/>
              <a:t>scanf</a:t>
            </a:r>
            <a:r>
              <a:rPr lang="en-IN" dirty="0"/>
              <a:t>("%d", &amp;choice);</a:t>
            </a:r>
          </a:p>
          <a:p>
            <a:endParaRPr lang="en-IN" dirty="0"/>
          </a:p>
          <a:p>
            <a:r>
              <a:rPr lang="en-IN" dirty="0"/>
              <a:t>    if(choice == 1) {</a:t>
            </a:r>
          </a:p>
          <a:p>
            <a:r>
              <a:rPr lang="en-IN" dirty="0"/>
              <a:t>        </a:t>
            </a:r>
            <a:r>
              <a:rPr lang="en-IN" dirty="0" err="1"/>
              <a:t>printf</a:t>
            </a:r>
            <a:r>
              <a:rPr lang="en-IN" dirty="0"/>
              <a:t>("Enter number of voltages:");</a:t>
            </a:r>
          </a:p>
          <a:p>
            <a:r>
              <a:rPr lang="en-IN" dirty="0"/>
              <a:t>        </a:t>
            </a:r>
            <a:r>
              <a:rPr lang="en-IN" dirty="0" err="1"/>
              <a:t>scanf</a:t>
            </a:r>
            <a:r>
              <a:rPr lang="en-IN" dirty="0"/>
              <a:t>("%d", &amp;n);</a:t>
            </a:r>
          </a:p>
          <a:p>
            <a:r>
              <a:rPr lang="en-IN" dirty="0"/>
              <a:t>        </a:t>
            </a:r>
            <a:r>
              <a:rPr lang="en-IN" dirty="0" err="1"/>
              <a:t>printf</a:t>
            </a:r>
            <a:r>
              <a:rPr lang="en-IN" dirty="0"/>
              <a:t>("Enter voltages (+rise, -drop):");</a:t>
            </a:r>
          </a:p>
          <a:p>
            <a:r>
              <a:rPr lang="en-IN" dirty="0"/>
              <a:t>        </a:t>
            </a:r>
            <a:r>
              <a:rPr lang="en-IN" dirty="0" err="1"/>
              <a:t>inputArray</a:t>
            </a:r>
            <a:r>
              <a:rPr lang="en-IN" dirty="0"/>
              <a:t>(</a:t>
            </a:r>
            <a:r>
              <a:rPr lang="en-IN" dirty="0" err="1"/>
              <a:t>arr</a:t>
            </a:r>
            <a:r>
              <a:rPr lang="en-IN" dirty="0"/>
              <a:t>, n);</a:t>
            </a:r>
          </a:p>
          <a:p>
            <a:endParaRPr lang="en-IN" dirty="0"/>
          </a:p>
          <a:p>
            <a:r>
              <a:rPr lang="en-IN" dirty="0"/>
              <a:t>        if(</a:t>
            </a:r>
            <a:r>
              <a:rPr lang="en-IN" dirty="0" err="1"/>
              <a:t>verifyKVL</a:t>
            </a:r>
            <a:r>
              <a:rPr lang="en-IN" dirty="0"/>
              <a:t>(</a:t>
            </a:r>
            <a:r>
              <a:rPr lang="en-IN" dirty="0" err="1"/>
              <a:t>arr</a:t>
            </a:r>
            <a:r>
              <a:rPr lang="en-IN" dirty="0"/>
              <a:t>, n))</a:t>
            </a:r>
          </a:p>
          <a:p>
            <a:r>
              <a:rPr lang="en-IN" dirty="0"/>
              <a:t>            </a:t>
            </a:r>
            <a:r>
              <a:rPr lang="en-IN" dirty="0" err="1"/>
              <a:t>printf</a:t>
            </a:r>
            <a:r>
              <a:rPr lang="en-IN" dirty="0"/>
              <a:t>("KVL Verified: Sum of voltages = 0\n");</a:t>
            </a:r>
          </a:p>
          <a:p>
            <a:r>
              <a:rPr lang="en-IN" dirty="0"/>
              <a:t>        else</a:t>
            </a:r>
          </a:p>
          <a:p>
            <a:r>
              <a:rPr lang="en-IN" dirty="0"/>
              <a:t>            </a:t>
            </a:r>
            <a:r>
              <a:rPr lang="en-IN" dirty="0" err="1"/>
              <a:t>printf</a:t>
            </a:r>
            <a:r>
              <a:rPr lang="en-IN" dirty="0"/>
              <a:t>("KVL Not Satisfied\n");</a:t>
            </a:r>
          </a:p>
          <a:p>
            <a:r>
              <a:rPr lang="en-IN" dirty="0"/>
              <a:t>    }</a:t>
            </a:r>
          </a:p>
          <a:p>
            <a:r>
              <a:rPr lang="en-US" dirty="0"/>
              <a:t>else if(choice == 2) {</a:t>
            </a:r>
          </a:p>
          <a:p>
            <a:r>
              <a:rPr lang="en-US" dirty="0"/>
              <a:t>        </a:t>
            </a:r>
            <a:r>
              <a:rPr lang="en-US" dirty="0" err="1"/>
              <a:t>printf</a:t>
            </a:r>
            <a:r>
              <a:rPr lang="en-US" dirty="0"/>
              <a:t>("Enter number of entering currents:");</a:t>
            </a:r>
          </a:p>
          <a:p>
            <a:r>
              <a:rPr lang="en-US" dirty="0"/>
              <a:t>        </a:t>
            </a:r>
            <a:r>
              <a:rPr lang="en-US" dirty="0" err="1"/>
              <a:t>scanf</a:t>
            </a:r>
            <a:r>
              <a:rPr lang="en-US" dirty="0"/>
              <a:t>("%d", &amp;n1);</a:t>
            </a:r>
          </a:p>
          <a:p>
            <a:r>
              <a:rPr lang="en-US" dirty="0"/>
              <a:t>        </a:t>
            </a:r>
            <a:r>
              <a:rPr lang="en-US" dirty="0" err="1"/>
              <a:t>printf</a:t>
            </a:r>
            <a:r>
              <a:rPr lang="en-US" dirty="0"/>
              <a:t>("Enter entering currents:");</a:t>
            </a:r>
          </a:p>
          <a:p>
            <a:r>
              <a:rPr lang="en-US" dirty="0"/>
              <a:t>        </a:t>
            </a:r>
            <a:r>
              <a:rPr lang="en-US" dirty="0" err="1"/>
              <a:t>inputArray</a:t>
            </a:r>
            <a:r>
              <a:rPr lang="en-US" dirty="0"/>
              <a:t>(in, n1);</a:t>
            </a:r>
            <a:endParaRPr lang="en-IN" dirty="0"/>
          </a:p>
        </p:txBody>
      </p:sp>
    </p:spTree>
    <p:extLst>
      <p:ext uri="{BB962C8B-B14F-4D97-AF65-F5344CB8AC3E}">
        <p14:creationId xmlns:p14="http://schemas.microsoft.com/office/powerpoint/2010/main" val="2508528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0FF758-93C3-4BA3-BD9F-BF85DBF7F5B3}"/>
              </a:ext>
            </a:extLst>
          </p:cNvPr>
          <p:cNvSpPr/>
          <p:nvPr/>
        </p:nvSpPr>
        <p:spPr>
          <a:xfrm>
            <a:off x="1015012" y="321713"/>
            <a:ext cx="6096000" cy="6617196"/>
          </a:xfrm>
          <a:prstGeom prst="rect">
            <a:avLst/>
          </a:prstGeom>
        </p:spPr>
        <p:txBody>
          <a:bodyPr>
            <a:spAutoFit/>
          </a:bodyPr>
          <a:lstStyle/>
          <a:p>
            <a:r>
              <a:rPr lang="en-IN" dirty="0" err="1"/>
              <a:t>printf</a:t>
            </a:r>
            <a:r>
              <a:rPr lang="en-IN" dirty="0"/>
              <a:t>("Enter number of leaving currents:");</a:t>
            </a:r>
          </a:p>
          <a:p>
            <a:r>
              <a:rPr lang="en-IN" dirty="0"/>
              <a:t>        </a:t>
            </a:r>
            <a:r>
              <a:rPr lang="en-IN" dirty="0" err="1"/>
              <a:t>scanf</a:t>
            </a:r>
            <a:r>
              <a:rPr lang="en-IN" dirty="0"/>
              <a:t>("%d", &amp;n2);</a:t>
            </a:r>
          </a:p>
          <a:p>
            <a:r>
              <a:rPr lang="en-IN" dirty="0"/>
              <a:t>        </a:t>
            </a:r>
            <a:r>
              <a:rPr lang="en-IN" dirty="0" err="1"/>
              <a:t>printf</a:t>
            </a:r>
            <a:r>
              <a:rPr lang="en-IN" dirty="0"/>
              <a:t>("Enter leaving currents:");</a:t>
            </a:r>
          </a:p>
          <a:p>
            <a:r>
              <a:rPr lang="en-IN" dirty="0"/>
              <a:t>        </a:t>
            </a:r>
            <a:r>
              <a:rPr lang="en-IN" dirty="0" err="1"/>
              <a:t>inputArray</a:t>
            </a:r>
            <a:r>
              <a:rPr lang="en-IN" dirty="0"/>
              <a:t>(out, n2);</a:t>
            </a:r>
          </a:p>
          <a:p>
            <a:endParaRPr lang="en-IN" dirty="0"/>
          </a:p>
          <a:p>
            <a:r>
              <a:rPr lang="en-IN" dirty="0"/>
              <a:t>        if(</a:t>
            </a:r>
            <a:r>
              <a:rPr lang="en-IN" dirty="0" err="1"/>
              <a:t>verifyKCL</a:t>
            </a:r>
            <a:r>
              <a:rPr lang="en-IN" dirty="0"/>
              <a:t>(in, out, n1, n2))</a:t>
            </a:r>
          </a:p>
          <a:p>
            <a:r>
              <a:rPr lang="en-IN" dirty="0"/>
              <a:t>            </a:t>
            </a:r>
            <a:r>
              <a:rPr lang="en-IN" dirty="0" err="1"/>
              <a:t>printf</a:t>
            </a:r>
            <a:r>
              <a:rPr lang="en-IN" dirty="0"/>
              <a:t>("KCL Verified: Sum(in) = Sum(out)\n");</a:t>
            </a:r>
          </a:p>
          <a:p>
            <a:r>
              <a:rPr lang="en-IN" dirty="0"/>
              <a:t>        else</a:t>
            </a:r>
          </a:p>
          <a:p>
            <a:r>
              <a:rPr lang="en-IN" dirty="0"/>
              <a:t>            </a:t>
            </a:r>
            <a:r>
              <a:rPr lang="en-IN" dirty="0" err="1"/>
              <a:t>printf</a:t>
            </a:r>
            <a:r>
              <a:rPr lang="en-IN" dirty="0"/>
              <a:t>("KCL Not Satisfied\n");</a:t>
            </a:r>
          </a:p>
          <a:p>
            <a:r>
              <a:rPr lang="en-IN" dirty="0"/>
              <a:t>    }</a:t>
            </a:r>
          </a:p>
          <a:p>
            <a:r>
              <a:rPr lang="en-IN" dirty="0"/>
              <a:t>    else</a:t>
            </a:r>
          </a:p>
          <a:p>
            <a:r>
              <a:rPr lang="en-IN" dirty="0"/>
              <a:t>        </a:t>
            </a:r>
            <a:r>
              <a:rPr lang="en-IN" dirty="0" err="1"/>
              <a:t>printf</a:t>
            </a:r>
            <a:r>
              <a:rPr lang="en-IN" dirty="0"/>
              <a:t>("Invalid Choice");</a:t>
            </a:r>
          </a:p>
          <a:p>
            <a:r>
              <a:rPr lang="en-IN" dirty="0"/>
              <a:t>}</a:t>
            </a:r>
          </a:p>
          <a:p>
            <a:endParaRPr lang="en-IN" dirty="0"/>
          </a:p>
          <a:p>
            <a:r>
              <a:rPr lang="en-US" sz="3200" b="1" dirty="0">
                <a:solidFill>
                  <a:schemeClr val="accent1"/>
                </a:solidFill>
              </a:rPr>
              <a:t>Execution Steps</a:t>
            </a:r>
            <a:endParaRPr lang="en-US" sz="2000" b="1" dirty="0">
              <a:solidFill>
                <a:schemeClr val="accent1"/>
              </a:solidFill>
            </a:endParaRPr>
          </a:p>
          <a:p>
            <a:endParaRPr lang="en-US" sz="3200" b="1" dirty="0"/>
          </a:p>
          <a:p>
            <a:r>
              <a:rPr lang="en-US" dirty="0"/>
              <a:t> </a:t>
            </a:r>
            <a:r>
              <a:rPr lang="en-US" dirty="0">
                <a:sym typeface="Wingdings" panose="05000000000000000000" pitchFamily="2" charset="2"/>
              </a:rPr>
              <a:t></a:t>
            </a:r>
            <a:r>
              <a:rPr lang="en-US" dirty="0"/>
              <a:t> Compile the C program</a:t>
            </a:r>
          </a:p>
          <a:p>
            <a:r>
              <a:rPr lang="en-US" dirty="0"/>
              <a:t> </a:t>
            </a:r>
            <a:r>
              <a:rPr lang="en-US" dirty="0">
                <a:sym typeface="Wingdings" panose="05000000000000000000" pitchFamily="2" charset="2"/>
              </a:rPr>
              <a:t> </a:t>
            </a:r>
            <a:r>
              <a:rPr lang="en-US" dirty="0"/>
              <a:t>Run the executable</a:t>
            </a:r>
          </a:p>
          <a:p>
            <a:r>
              <a:rPr lang="en-US" dirty="0"/>
              <a:t> </a:t>
            </a:r>
            <a:r>
              <a:rPr lang="en-US" dirty="0">
                <a:sym typeface="Wingdings" panose="05000000000000000000" pitchFamily="2" charset="2"/>
              </a:rPr>
              <a:t> </a:t>
            </a:r>
            <a:r>
              <a:rPr lang="en-US" dirty="0"/>
              <a:t>Choose option 1 (KVL) or 2 (KCL)</a:t>
            </a:r>
          </a:p>
          <a:p>
            <a:r>
              <a:rPr lang="en-US" dirty="0"/>
              <a:t> </a:t>
            </a:r>
            <a:r>
              <a:rPr lang="en-US" dirty="0">
                <a:sym typeface="Wingdings" panose="05000000000000000000" pitchFamily="2" charset="2"/>
              </a:rPr>
              <a:t> </a:t>
            </a:r>
            <a:r>
              <a:rPr lang="en-US" dirty="0"/>
              <a:t>Enter values as prompted</a:t>
            </a:r>
          </a:p>
          <a:p>
            <a:r>
              <a:rPr lang="en-US" dirty="0"/>
              <a:t> </a:t>
            </a:r>
            <a:r>
              <a:rPr lang="en-US" dirty="0">
                <a:sym typeface="Wingdings" panose="05000000000000000000" pitchFamily="2" charset="2"/>
              </a:rPr>
              <a:t> </a:t>
            </a:r>
            <a:r>
              <a:rPr lang="en-US" dirty="0"/>
              <a:t>Observe result printed on screen</a:t>
            </a:r>
          </a:p>
          <a:p>
            <a:endParaRPr lang="en-IN" dirty="0"/>
          </a:p>
        </p:txBody>
      </p:sp>
    </p:spTree>
    <p:extLst>
      <p:ext uri="{BB962C8B-B14F-4D97-AF65-F5344CB8AC3E}">
        <p14:creationId xmlns:p14="http://schemas.microsoft.com/office/powerpoint/2010/main" val="3802619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1B0EB08-8BA3-48EB-83A1-EF494BB88C69}"/>
              </a:ext>
            </a:extLst>
          </p:cNvPr>
          <p:cNvSpPr>
            <a:spLocks noChangeArrowheads="1"/>
          </p:cNvSpPr>
          <p:nvPr/>
        </p:nvSpPr>
        <p:spPr bwMode="auto">
          <a:xfrm>
            <a:off x="1091954" y="322506"/>
            <a:ext cx="7350710"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2400" b="1" dirty="0">
                <a:latin typeface="Arial" panose="020B0604020202020204" pitchFamily="34" charset="0"/>
              </a:rPr>
              <a:t> </a:t>
            </a:r>
            <a:r>
              <a:rPr lang="en-US" altLang="en-US" sz="2400" b="1" dirty="0">
                <a:solidFill>
                  <a:schemeClr val="accent1"/>
                </a:solidFill>
                <a:latin typeface="Arial" panose="020B0604020202020204" pitchFamily="34" charset="0"/>
              </a:rPr>
              <a:t>Sample Output (KVL)</a:t>
            </a:r>
            <a:endParaRPr kumimoji="0" lang="en-US" altLang="en-US" sz="2400" b="1" i="0" u="none" strike="noStrike" cap="none" normalizeH="0" baseline="0" dirty="0">
              <a:ln>
                <a:noFill/>
              </a:ln>
              <a:solidFill>
                <a:schemeClr val="accent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Unicode MS" panose="020B0604020202020204" pitchFamily="34" charset="-128"/>
              </a:rPr>
              <a:t>Verify KVL </a:t>
            </a:r>
          </a:p>
          <a:p>
            <a:pPr marL="342900" marR="0" lvl="0" indent="-342900" algn="l" defTabSz="914400" rtl="0" eaLnBrk="0" fontAlgn="base" latinLnBrk="0" hangingPunct="0">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Unicode MS" panose="020B0604020202020204" pitchFamily="34" charset="-128"/>
              </a:rPr>
              <a:t>2. Verify KCL </a:t>
            </a:r>
          </a:p>
          <a:p>
            <a:pPr marL="342900" marR="0" lvl="0" indent="-342900" algn="l" defTabSz="914400" rtl="0" eaLnBrk="0" fontAlgn="base" latinLnBrk="0" hangingPunct="0">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Unicode MS" panose="020B0604020202020204" pitchFamily="34" charset="-128"/>
              </a:rPr>
              <a:t>Enter choice: 1 </a:t>
            </a:r>
          </a:p>
          <a:p>
            <a:pPr marL="342900" marR="0" lvl="0" indent="-342900" algn="l" defTabSz="914400" rtl="0" eaLnBrk="0" fontAlgn="base" latinLnBrk="0" hangingPunct="0">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Unicode MS" panose="020B0604020202020204" pitchFamily="34" charset="-128"/>
              </a:rPr>
              <a:t>Enter number of voltages: 3 </a:t>
            </a:r>
          </a:p>
          <a:p>
            <a:pPr marL="342900" marR="0" lvl="0" indent="-342900" algn="l" defTabSz="914400" rtl="0" eaLnBrk="0" fontAlgn="base" latinLnBrk="0" hangingPunct="0">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Unicode MS" panose="020B0604020202020204" pitchFamily="34" charset="-128"/>
              </a:rPr>
              <a:t>Enter voltages: 5 -3 -2 </a:t>
            </a:r>
          </a:p>
          <a:p>
            <a:pPr marL="342900" marR="0" lvl="0" indent="-342900" algn="l" defTabSz="914400" rtl="0" eaLnBrk="0" fontAlgn="base" latinLnBrk="0" hangingPunct="0">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Unicode MS" panose="020B0604020202020204" pitchFamily="34" charset="-128"/>
              </a:rPr>
              <a:t>KVL Verified: Sum of voltages = 0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458A535F-ED24-4D22-A691-DEEB55F0DB30}"/>
              </a:ext>
            </a:extLst>
          </p:cNvPr>
          <p:cNvSpPr>
            <a:spLocks noChangeArrowheads="1"/>
          </p:cNvSpPr>
          <p:nvPr/>
        </p:nvSpPr>
        <p:spPr bwMode="auto">
          <a:xfrm>
            <a:off x="1091954" y="3429000"/>
            <a:ext cx="7350709"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accent1"/>
                </a:solidFill>
                <a:effectLst/>
                <a:latin typeface="Arial" panose="020B0604020202020204" pitchFamily="34" charset="0"/>
              </a:rPr>
              <a:t>Sample Output (KCL)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lvl="0"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Unicode MS" panose="020B0604020202020204" pitchFamily="34" charset="-128"/>
              </a:rPr>
              <a:t>1 </a:t>
            </a:r>
            <a:r>
              <a:rPr lang="en-US" altLang="en-US" dirty="0">
                <a:latin typeface="Arial Unicode MS" panose="020B0604020202020204" pitchFamily="34" charset="-128"/>
              </a:rPr>
              <a:t>. Verify KVL</a:t>
            </a:r>
          </a:p>
          <a:p>
            <a:pPr lvl="0" defTabSz="914400" eaLnBrk="0" fontAlgn="base" hangingPunct="0">
              <a:spcBef>
                <a:spcPct val="0"/>
              </a:spcBef>
              <a:spcAft>
                <a:spcPct val="0"/>
              </a:spcAft>
            </a:pPr>
            <a:r>
              <a:rPr lang="en-US" altLang="en-US" dirty="0">
                <a:latin typeface="Arial Unicode MS" panose="020B0604020202020204" pitchFamily="34" charset="-128"/>
              </a:rPr>
              <a:t>2. Verify KCL </a:t>
            </a:r>
          </a:p>
          <a:p>
            <a:pPr lvl="0" defTabSz="914400" eaLnBrk="0" fontAlgn="base" hangingPunct="0">
              <a:spcBef>
                <a:spcPct val="0"/>
              </a:spcBef>
              <a:spcAft>
                <a:spcPct val="0"/>
              </a:spcAft>
            </a:pPr>
            <a:r>
              <a:rPr lang="en-US" altLang="en-US" dirty="0">
                <a:latin typeface="Arial Unicode MS" panose="020B0604020202020204" pitchFamily="34" charset="-128"/>
              </a:rPr>
              <a:t>Enter choice: 2 </a:t>
            </a:r>
          </a:p>
          <a:p>
            <a:pPr lvl="0" defTabSz="914400" eaLnBrk="0" fontAlgn="base" hangingPunct="0">
              <a:spcBef>
                <a:spcPct val="0"/>
              </a:spcBef>
              <a:spcAft>
                <a:spcPct val="0"/>
              </a:spcAft>
            </a:pPr>
            <a:r>
              <a:rPr lang="en-US" altLang="en-US" dirty="0">
                <a:latin typeface="Arial Unicode MS" panose="020B0604020202020204" pitchFamily="34" charset="-128"/>
              </a:rPr>
              <a:t>Enter number of entering currents: 2 </a:t>
            </a:r>
          </a:p>
          <a:p>
            <a:pPr lvl="0" defTabSz="914400" eaLnBrk="0" fontAlgn="base" hangingPunct="0">
              <a:spcBef>
                <a:spcPct val="0"/>
              </a:spcBef>
              <a:spcAft>
                <a:spcPct val="0"/>
              </a:spcAft>
            </a:pPr>
            <a:r>
              <a:rPr lang="en-US" altLang="en-US" dirty="0">
                <a:latin typeface="Arial Unicode MS" panose="020B0604020202020204" pitchFamily="34" charset="-128"/>
              </a:rPr>
              <a:t>Enter entering currents: 5 3 </a:t>
            </a:r>
          </a:p>
          <a:p>
            <a:pPr lvl="0" defTabSz="914400" eaLnBrk="0" fontAlgn="base" hangingPunct="0">
              <a:spcBef>
                <a:spcPct val="0"/>
              </a:spcBef>
              <a:spcAft>
                <a:spcPct val="0"/>
              </a:spcAft>
            </a:pPr>
            <a:r>
              <a:rPr lang="en-US" altLang="en-US" dirty="0">
                <a:latin typeface="Arial Unicode MS" panose="020B0604020202020204" pitchFamily="34" charset="-128"/>
              </a:rPr>
              <a:t>Enter number of leaving currents: 2 </a:t>
            </a:r>
          </a:p>
          <a:p>
            <a:pPr lvl="0" defTabSz="914400" eaLnBrk="0" fontAlgn="base" hangingPunct="0">
              <a:spcBef>
                <a:spcPct val="0"/>
              </a:spcBef>
              <a:spcAft>
                <a:spcPct val="0"/>
              </a:spcAft>
            </a:pPr>
            <a:r>
              <a:rPr lang="en-US" altLang="en-US" dirty="0">
                <a:latin typeface="Arial Unicode MS" panose="020B0604020202020204" pitchFamily="34" charset="-128"/>
              </a:rPr>
              <a:t>Enter leaving currents: 4 4 </a:t>
            </a:r>
          </a:p>
          <a:p>
            <a:pPr lvl="0" defTabSz="914400" eaLnBrk="0" fontAlgn="base" hangingPunct="0">
              <a:spcBef>
                <a:spcPct val="0"/>
              </a:spcBef>
              <a:spcAft>
                <a:spcPct val="0"/>
              </a:spcAft>
            </a:pPr>
            <a:r>
              <a:rPr lang="en-US" altLang="en-US" dirty="0">
                <a:latin typeface="Arial Unicode MS" panose="020B0604020202020204" pitchFamily="34" charset="-128"/>
              </a:rPr>
              <a:t>KCL Verified: Sum(in) = Sum(o</a:t>
            </a:r>
            <a:r>
              <a:rPr kumimoji="0" lang="en-US" altLang="en-US" b="0" i="0" u="none" strike="noStrike" cap="none" normalizeH="0" baseline="0" dirty="0">
                <a:ln>
                  <a:noFill/>
                </a:ln>
                <a:solidFill>
                  <a:schemeClr val="tx1"/>
                </a:solidFill>
                <a:effectLst/>
                <a:latin typeface="Arial Unicode MS" panose="020B0604020202020204" pitchFamily="34" charset="-128"/>
              </a:rPr>
              <a:t>ut)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24143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2F531A-7B1E-4AD0-9EB2-14B0EF3B08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3213" y="1088429"/>
            <a:ext cx="6059338" cy="2693686"/>
          </a:xfrm>
          <a:prstGeom prst="rect">
            <a:avLst/>
          </a:prstGeom>
        </p:spPr>
      </p:pic>
      <p:pic>
        <p:nvPicPr>
          <p:cNvPr id="7" name="Picture 6">
            <a:extLst>
              <a:ext uri="{FF2B5EF4-FFF2-40B4-BE49-F238E27FC236}">
                <a16:creationId xmlns:a16="http://schemas.microsoft.com/office/drawing/2014/main" id="{24B0327B-A1AE-4D11-9E90-EF08F3F3FE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3213" y="3950563"/>
            <a:ext cx="6059338" cy="2791788"/>
          </a:xfrm>
          <a:prstGeom prst="rect">
            <a:avLst/>
          </a:prstGeom>
        </p:spPr>
      </p:pic>
      <p:sp>
        <p:nvSpPr>
          <p:cNvPr id="8" name="Rectangle 7">
            <a:extLst>
              <a:ext uri="{FF2B5EF4-FFF2-40B4-BE49-F238E27FC236}">
                <a16:creationId xmlns:a16="http://schemas.microsoft.com/office/drawing/2014/main" id="{D9C976A8-6474-4466-A1CE-19B74B120F58}"/>
              </a:ext>
            </a:extLst>
          </p:cNvPr>
          <p:cNvSpPr/>
          <p:nvPr/>
        </p:nvSpPr>
        <p:spPr>
          <a:xfrm>
            <a:off x="104683" y="154905"/>
            <a:ext cx="2091855" cy="707886"/>
          </a:xfrm>
          <a:prstGeom prst="rect">
            <a:avLst/>
          </a:prstGeom>
        </p:spPr>
        <p:txBody>
          <a:bodyPr wrap="none">
            <a:spAutoFit/>
          </a:bodyPr>
          <a:lstStyle/>
          <a:p>
            <a:r>
              <a:rPr lang="en-IN" sz="4000" b="1" dirty="0">
                <a:solidFill>
                  <a:schemeClr val="accent1"/>
                </a:solidFill>
              </a:rPr>
              <a:t>RESULT:</a:t>
            </a:r>
          </a:p>
        </p:txBody>
      </p:sp>
    </p:spTree>
    <p:extLst>
      <p:ext uri="{BB962C8B-B14F-4D97-AF65-F5344CB8AC3E}">
        <p14:creationId xmlns:p14="http://schemas.microsoft.com/office/powerpoint/2010/main" val="4029706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5D0B617-7C82-4A4D-A70D-848E0F0CE4D1}"/>
              </a:ext>
            </a:extLst>
          </p:cNvPr>
          <p:cNvSpPr/>
          <p:nvPr/>
        </p:nvSpPr>
        <p:spPr>
          <a:xfrm>
            <a:off x="541538" y="753213"/>
            <a:ext cx="8593583" cy="2092881"/>
          </a:xfrm>
          <a:prstGeom prst="rect">
            <a:avLst/>
          </a:prstGeom>
        </p:spPr>
        <p:txBody>
          <a:bodyPr wrap="square">
            <a:spAutoFit/>
          </a:bodyPr>
          <a:lstStyle/>
          <a:p>
            <a:r>
              <a:rPr lang="en-US" sz="4000" b="1" dirty="0">
                <a:solidFill>
                  <a:schemeClr val="accent1"/>
                </a:solidFill>
              </a:rPr>
              <a:t>Conclusion</a:t>
            </a:r>
          </a:p>
          <a:p>
            <a:endParaRPr lang="en-US" b="1" dirty="0"/>
          </a:p>
          <a:p>
            <a:r>
              <a:rPr lang="en-US" dirty="0"/>
              <a:t>✔ KVL verified because voltage rises and drops balanced to zero</a:t>
            </a:r>
            <a:br>
              <a:rPr lang="en-US" dirty="0"/>
            </a:br>
            <a:r>
              <a:rPr lang="en-US" dirty="0"/>
              <a:t>✔ KCL verified because sum of entering currents equals sum of leaving currents</a:t>
            </a:r>
            <a:br>
              <a:rPr lang="en-US" dirty="0"/>
            </a:br>
            <a:r>
              <a:rPr lang="en-US" dirty="0"/>
              <a:t>This project demonstrates Kirchhoff’s laws through computation.</a:t>
            </a:r>
          </a:p>
          <a:p>
            <a:endParaRPr lang="en-US" b="1" dirty="0"/>
          </a:p>
        </p:txBody>
      </p:sp>
    </p:spTree>
    <p:extLst>
      <p:ext uri="{BB962C8B-B14F-4D97-AF65-F5344CB8AC3E}">
        <p14:creationId xmlns:p14="http://schemas.microsoft.com/office/powerpoint/2010/main" val="60549623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302</TotalTime>
  <Words>973</Words>
  <Application>Microsoft Office PowerPoint</Application>
  <PresentationFormat>Widescreen</PresentationFormat>
  <Paragraphs>153</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 Unicode MS</vt:lpstr>
      <vt:lpstr>Arial</vt:lpstr>
      <vt:lpstr>Arial Rounded MT Bold</vt:lpstr>
      <vt:lpstr>Calibri</vt:lpstr>
      <vt:lpstr>Trebuchet MS</vt:lpstr>
      <vt:lpstr>Wingdings</vt:lpstr>
      <vt:lpstr>Wingdings 3</vt:lpstr>
      <vt:lpstr>Facet</vt:lpstr>
      <vt:lpstr>  KIRCHHOFF’S LAW</vt:lpstr>
      <vt:lpstr>REQUIREMENTS 1. Hardware Requirements            Computer / Laptop            Keyboard and Mouse            Minimum 4 GB RAM 2. Software Requiremets       Compiler : GCC / Turbo C / IDE           Operating system : Windows / Linux           Programming Language : C/C++           Database (optional) : MySQL / File System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kirchhoff’s law</dc:title>
  <dc:creator>Ganilakshmi ambati</dc:creator>
  <cp:lastModifiedBy>Ganilakshmi ambati</cp:lastModifiedBy>
  <cp:revision>35</cp:revision>
  <dcterms:created xsi:type="dcterms:W3CDTF">2025-12-02T14:57:33Z</dcterms:created>
  <dcterms:modified xsi:type="dcterms:W3CDTF">2025-12-09T16:17:50Z</dcterms:modified>
</cp:coreProperties>
</file>